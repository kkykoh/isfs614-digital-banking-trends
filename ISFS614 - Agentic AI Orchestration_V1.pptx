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84" r:id="rId3"/>
    <p:sldId id="282" r:id="rId4"/>
    <p:sldId id="286" r:id="rId5"/>
    <p:sldId id="268" r:id="rId6"/>
    <p:sldId id="267" r:id="rId7"/>
    <p:sldId id="269" r:id="rId8"/>
    <p:sldId id="289" r:id="rId9"/>
    <p:sldId id="275" r:id="rId10"/>
    <p:sldId id="274" r:id="rId11"/>
    <p:sldId id="259" r:id="rId12"/>
    <p:sldId id="278" r:id="rId13"/>
    <p:sldId id="276" r:id="rId14"/>
    <p:sldId id="277" r:id="rId15"/>
    <p:sldId id="261" r:id="rId16"/>
    <p:sldId id="279" r:id="rId17"/>
    <p:sldId id="285" r:id="rId18"/>
    <p:sldId id="283" r:id="rId19"/>
    <p:sldId id="291" r:id="rId20"/>
    <p:sldId id="287" r:id="rId21"/>
    <p:sldId id="290" r:id="rId22"/>
    <p:sldId id="28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6E3"/>
    <a:srgbClr val="141414"/>
    <a:srgbClr val="631F91"/>
    <a:srgbClr val="2C7E00"/>
    <a:srgbClr val="00FFFF"/>
    <a:srgbClr val="00204F"/>
    <a:srgbClr val="FFFFFF"/>
    <a:srgbClr val="FAE6E6"/>
    <a:srgbClr val="EEF1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766" autoAdjust="0"/>
  </p:normalViewPr>
  <p:slideViewPr>
    <p:cSldViewPr snapToGrid="0">
      <p:cViewPr varScale="1">
        <p:scale>
          <a:sx n="60" d="100"/>
          <a:sy n="60" d="100"/>
        </p:scale>
        <p:origin x="840" y="52"/>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B32CE6-CDEC-40A8-97A3-AE26C8DAD408}"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2A821C-584A-47DC-B890-D82DDB70D9D5}" type="slidenum">
              <a:rPr lang="en-US" smtClean="0"/>
              <a:t>‹#›</a:t>
            </a:fld>
            <a:endParaRPr lang="en-US"/>
          </a:p>
        </p:txBody>
      </p:sp>
    </p:spTree>
    <p:extLst>
      <p:ext uri="{BB962C8B-B14F-4D97-AF65-F5344CB8AC3E}">
        <p14:creationId xmlns:p14="http://schemas.microsoft.com/office/powerpoint/2010/main" val="3816649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36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5D2A821C-584A-47DC-B890-D82DDB70D9D5}" type="slidenum">
              <a:rPr lang="en-US" smtClean="0"/>
              <a:t>1</a:t>
            </a:fld>
            <a:endParaRPr lang="en-US"/>
          </a:p>
        </p:txBody>
      </p:sp>
    </p:spTree>
    <p:extLst>
      <p:ext uri="{BB962C8B-B14F-4D97-AF65-F5344CB8AC3E}">
        <p14:creationId xmlns:p14="http://schemas.microsoft.com/office/powerpoint/2010/main" val="2655769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EA5E7-62C6-5F9E-69FB-5B9171D0C5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17A6B-2AAF-7A24-5D49-EED386B9C6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7D0EB-4394-01F4-87F7-F084B938B4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071295-391C-F213-91E8-899270D09ABE}"/>
              </a:ext>
            </a:extLst>
          </p:cNvPr>
          <p:cNvSpPr>
            <a:spLocks noGrp="1"/>
          </p:cNvSpPr>
          <p:nvPr>
            <p:ph type="sldNum" sz="quarter" idx="5"/>
          </p:nvPr>
        </p:nvSpPr>
        <p:spPr/>
        <p:txBody>
          <a:bodyPr/>
          <a:lstStyle/>
          <a:p>
            <a:fld id="{5D2A821C-584A-47DC-B890-D82DDB70D9D5}" type="slidenum">
              <a:rPr lang="en-US" smtClean="0"/>
              <a:t>2</a:t>
            </a:fld>
            <a:endParaRPr lang="en-US"/>
          </a:p>
        </p:txBody>
      </p:sp>
    </p:spTree>
    <p:extLst>
      <p:ext uri="{BB962C8B-B14F-4D97-AF65-F5344CB8AC3E}">
        <p14:creationId xmlns:p14="http://schemas.microsoft.com/office/powerpoint/2010/main" val="2261334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FED3E-578F-D546-2E82-AE7882D322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D9AA66-D7D6-BCE8-04B7-13851E5E87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8967F-F8EF-74D4-77E2-9E620E107F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F6F5E6-347B-DC85-5255-C58324B11756}"/>
              </a:ext>
            </a:extLst>
          </p:cNvPr>
          <p:cNvSpPr>
            <a:spLocks noGrp="1"/>
          </p:cNvSpPr>
          <p:nvPr>
            <p:ph type="sldNum" sz="quarter" idx="5"/>
          </p:nvPr>
        </p:nvSpPr>
        <p:spPr/>
        <p:txBody>
          <a:bodyPr/>
          <a:lstStyle/>
          <a:p>
            <a:fld id="{5D2A821C-584A-47DC-B890-D82DDB70D9D5}" type="slidenum">
              <a:rPr lang="en-US" smtClean="0"/>
              <a:t>3</a:t>
            </a:fld>
            <a:endParaRPr lang="en-US"/>
          </a:p>
        </p:txBody>
      </p:sp>
    </p:spTree>
    <p:extLst>
      <p:ext uri="{BB962C8B-B14F-4D97-AF65-F5344CB8AC3E}">
        <p14:creationId xmlns:p14="http://schemas.microsoft.com/office/powerpoint/2010/main" val="1603344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0FE12-6734-9D53-DF9F-7C72DB32F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ED0C4-79CE-DFF7-8283-5875E122A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94D801-FC24-C198-9607-B1FF7097C8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109F47-F9CD-00BC-0BD2-42E1E8812B32}"/>
              </a:ext>
            </a:extLst>
          </p:cNvPr>
          <p:cNvSpPr>
            <a:spLocks noGrp="1"/>
          </p:cNvSpPr>
          <p:nvPr>
            <p:ph type="sldNum" sz="quarter" idx="5"/>
          </p:nvPr>
        </p:nvSpPr>
        <p:spPr/>
        <p:txBody>
          <a:bodyPr/>
          <a:lstStyle/>
          <a:p>
            <a:fld id="{5D2A821C-584A-47DC-B890-D82DDB70D9D5}" type="slidenum">
              <a:rPr lang="en-US" smtClean="0"/>
              <a:t>4</a:t>
            </a:fld>
            <a:endParaRPr lang="en-US"/>
          </a:p>
        </p:txBody>
      </p:sp>
    </p:spTree>
    <p:extLst>
      <p:ext uri="{BB962C8B-B14F-4D97-AF65-F5344CB8AC3E}">
        <p14:creationId xmlns:p14="http://schemas.microsoft.com/office/powerpoint/2010/main" val="3458183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B1148-2898-CB91-D1FF-013D26ACC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0FEA0-36B3-8291-4960-65DBC9219F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55BB0-E17D-AA9F-558C-93EC872C33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2F0C3A-D8F4-4449-9A69-AF59C5475FC6}"/>
              </a:ext>
            </a:extLst>
          </p:cNvPr>
          <p:cNvSpPr>
            <a:spLocks noGrp="1"/>
          </p:cNvSpPr>
          <p:nvPr>
            <p:ph type="sldNum" sz="quarter" idx="5"/>
          </p:nvPr>
        </p:nvSpPr>
        <p:spPr/>
        <p:txBody>
          <a:bodyPr/>
          <a:lstStyle/>
          <a:p>
            <a:fld id="{5D2A821C-584A-47DC-B890-D82DDB70D9D5}" type="slidenum">
              <a:rPr lang="en-US" smtClean="0"/>
              <a:t>5</a:t>
            </a:fld>
            <a:endParaRPr lang="en-US"/>
          </a:p>
        </p:txBody>
      </p:sp>
    </p:spTree>
    <p:extLst>
      <p:ext uri="{BB962C8B-B14F-4D97-AF65-F5344CB8AC3E}">
        <p14:creationId xmlns:p14="http://schemas.microsoft.com/office/powerpoint/2010/main" val="949392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1396E-9C33-07E3-120E-61EE5C581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9965A-DC2A-D400-A119-FA56E9AFB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D3D922-FE17-DB40-BC99-1539D1E2F1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E65A5B-6581-9A41-6A95-408AD2EF433A}"/>
              </a:ext>
            </a:extLst>
          </p:cNvPr>
          <p:cNvSpPr>
            <a:spLocks noGrp="1"/>
          </p:cNvSpPr>
          <p:nvPr>
            <p:ph type="sldNum" sz="quarter" idx="5"/>
          </p:nvPr>
        </p:nvSpPr>
        <p:spPr/>
        <p:txBody>
          <a:bodyPr/>
          <a:lstStyle/>
          <a:p>
            <a:fld id="{5D2A821C-584A-47DC-B890-D82DDB70D9D5}" type="slidenum">
              <a:rPr lang="en-US" smtClean="0"/>
              <a:t>6</a:t>
            </a:fld>
            <a:endParaRPr lang="en-US"/>
          </a:p>
        </p:txBody>
      </p:sp>
    </p:spTree>
    <p:extLst>
      <p:ext uri="{BB962C8B-B14F-4D97-AF65-F5344CB8AC3E}">
        <p14:creationId xmlns:p14="http://schemas.microsoft.com/office/powerpoint/2010/main" val="895356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8F9DF-271F-F4E9-9CDD-9038E5FDB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7EF1F4-0375-DCCF-CD18-7BB7FA50B5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CF313-2202-704C-5F0A-7A56CC8348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19E84B-9D73-1BCA-6687-8F3A8FB2C1A0}"/>
              </a:ext>
            </a:extLst>
          </p:cNvPr>
          <p:cNvSpPr>
            <a:spLocks noGrp="1"/>
          </p:cNvSpPr>
          <p:nvPr>
            <p:ph type="sldNum" sz="quarter" idx="5"/>
          </p:nvPr>
        </p:nvSpPr>
        <p:spPr/>
        <p:txBody>
          <a:bodyPr/>
          <a:lstStyle/>
          <a:p>
            <a:fld id="{5D2A821C-584A-47DC-B890-D82DDB70D9D5}" type="slidenum">
              <a:rPr lang="en-US" smtClean="0"/>
              <a:t>7</a:t>
            </a:fld>
            <a:endParaRPr lang="en-US"/>
          </a:p>
        </p:txBody>
      </p:sp>
    </p:spTree>
    <p:extLst>
      <p:ext uri="{BB962C8B-B14F-4D97-AF65-F5344CB8AC3E}">
        <p14:creationId xmlns:p14="http://schemas.microsoft.com/office/powerpoint/2010/main" val="795979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DC771-FF3F-D8BC-EE83-5A88C4F16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9D07E-B314-5465-3055-C80F4F94D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062A9-230B-226C-4BBC-0A14808FFC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5C6D5D-38E2-7858-AFF3-DCB48701E3CC}"/>
              </a:ext>
            </a:extLst>
          </p:cNvPr>
          <p:cNvSpPr>
            <a:spLocks noGrp="1"/>
          </p:cNvSpPr>
          <p:nvPr>
            <p:ph type="sldNum" sz="quarter" idx="5"/>
          </p:nvPr>
        </p:nvSpPr>
        <p:spPr/>
        <p:txBody>
          <a:bodyPr/>
          <a:lstStyle/>
          <a:p>
            <a:fld id="{5D2A821C-584A-47DC-B890-D82DDB70D9D5}" type="slidenum">
              <a:rPr lang="en-US" smtClean="0"/>
              <a:t>8</a:t>
            </a:fld>
            <a:endParaRPr lang="en-US"/>
          </a:p>
        </p:txBody>
      </p:sp>
    </p:spTree>
    <p:extLst>
      <p:ext uri="{BB962C8B-B14F-4D97-AF65-F5344CB8AC3E}">
        <p14:creationId xmlns:p14="http://schemas.microsoft.com/office/powerpoint/2010/main" val="2279966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E82F0-72FA-C8E8-BA52-CFEA0770A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96802F-CA4B-3779-6717-AEAF1FD84C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FF99A2-2999-3216-E18C-5787C7F696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060647-56A1-1B12-5F7D-3226FFF02879}"/>
              </a:ext>
            </a:extLst>
          </p:cNvPr>
          <p:cNvSpPr>
            <a:spLocks noGrp="1"/>
          </p:cNvSpPr>
          <p:nvPr>
            <p:ph type="sldNum" sz="quarter" idx="5"/>
          </p:nvPr>
        </p:nvSpPr>
        <p:spPr/>
        <p:txBody>
          <a:bodyPr/>
          <a:lstStyle/>
          <a:p>
            <a:fld id="{5D2A821C-584A-47DC-B890-D82DDB70D9D5}" type="slidenum">
              <a:rPr lang="en-US" smtClean="0"/>
              <a:t>9</a:t>
            </a:fld>
            <a:endParaRPr lang="en-US"/>
          </a:p>
        </p:txBody>
      </p:sp>
    </p:spTree>
    <p:extLst>
      <p:ext uri="{BB962C8B-B14F-4D97-AF65-F5344CB8AC3E}">
        <p14:creationId xmlns:p14="http://schemas.microsoft.com/office/powerpoint/2010/main" val="2008935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51F77-5547-4FB5-1FC7-176F556C4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85211-7AF8-7129-04A8-46B32889E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2DB026-F3DF-C502-A0BE-43295D0A35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D36AEE-DA13-022D-1E33-FA7DF1F5A38C}"/>
              </a:ext>
            </a:extLst>
          </p:cNvPr>
          <p:cNvSpPr>
            <a:spLocks noGrp="1"/>
          </p:cNvSpPr>
          <p:nvPr>
            <p:ph type="sldNum" sz="quarter" idx="5"/>
          </p:nvPr>
        </p:nvSpPr>
        <p:spPr/>
        <p:txBody>
          <a:bodyPr/>
          <a:lstStyle/>
          <a:p>
            <a:fld id="{5D2A821C-584A-47DC-B890-D82DDB70D9D5}" type="slidenum">
              <a:rPr lang="en-US" smtClean="0"/>
              <a:t>10</a:t>
            </a:fld>
            <a:endParaRPr lang="en-US"/>
          </a:p>
        </p:txBody>
      </p:sp>
    </p:spTree>
    <p:extLst>
      <p:ext uri="{BB962C8B-B14F-4D97-AF65-F5344CB8AC3E}">
        <p14:creationId xmlns:p14="http://schemas.microsoft.com/office/powerpoint/2010/main" val="28479483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1BC9-7170-4A69-6027-29D53277B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F4105-711E-04D6-14AA-56004910A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AB4FBB-777D-0570-6C96-DA873CF115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E44B03-9A52-A056-8472-812130FECED9}"/>
              </a:ext>
            </a:extLst>
          </p:cNvPr>
          <p:cNvSpPr>
            <a:spLocks noGrp="1"/>
          </p:cNvSpPr>
          <p:nvPr>
            <p:ph type="sldNum" sz="quarter" idx="5"/>
          </p:nvPr>
        </p:nvSpPr>
        <p:spPr/>
        <p:txBody>
          <a:bodyPr/>
          <a:lstStyle/>
          <a:p>
            <a:fld id="{5D2A821C-584A-47DC-B890-D82DDB70D9D5}" type="slidenum">
              <a:rPr lang="en-US" smtClean="0"/>
              <a:t>11</a:t>
            </a:fld>
            <a:endParaRPr lang="en-US"/>
          </a:p>
        </p:txBody>
      </p:sp>
    </p:spTree>
    <p:extLst>
      <p:ext uri="{BB962C8B-B14F-4D97-AF65-F5344CB8AC3E}">
        <p14:creationId xmlns:p14="http://schemas.microsoft.com/office/powerpoint/2010/main" val="1578003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7F156-1C12-0A40-DEEF-E3CBDEFAC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6669-D1AB-12CF-3081-DE15C6B82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CC3A10-ADD4-C07B-8432-277D23C39A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0FE857-DA8D-1C63-872A-353F756733F1}"/>
              </a:ext>
            </a:extLst>
          </p:cNvPr>
          <p:cNvSpPr>
            <a:spLocks noGrp="1"/>
          </p:cNvSpPr>
          <p:nvPr>
            <p:ph type="sldNum" sz="quarter" idx="5"/>
          </p:nvPr>
        </p:nvSpPr>
        <p:spPr/>
        <p:txBody>
          <a:bodyPr/>
          <a:lstStyle/>
          <a:p>
            <a:fld id="{5D2A821C-584A-47DC-B890-D82DDB70D9D5}" type="slidenum">
              <a:rPr lang="en-US" smtClean="0"/>
              <a:t>12</a:t>
            </a:fld>
            <a:endParaRPr lang="en-US"/>
          </a:p>
        </p:txBody>
      </p:sp>
    </p:spTree>
    <p:extLst>
      <p:ext uri="{BB962C8B-B14F-4D97-AF65-F5344CB8AC3E}">
        <p14:creationId xmlns:p14="http://schemas.microsoft.com/office/powerpoint/2010/main" val="14409388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9D4D3-895B-7492-2810-199A5A243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72B270-5737-9B60-7E0A-7A8933A79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F6B59-92EA-313A-149E-2977844AD6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A2FBD3-F4F4-D254-DAF5-56CA97E84342}"/>
              </a:ext>
            </a:extLst>
          </p:cNvPr>
          <p:cNvSpPr>
            <a:spLocks noGrp="1"/>
          </p:cNvSpPr>
          <p:nvPr>
            <p:ph type="sldNum" sz="quarter" idx="5"/>
          </p:nvPr>
        </p:nvSpPr>
        <p:spPr/>
        <p:txBody>
          <a:bodyPr/>
          <a:lstStyle/>
          <a:p>
            <a:fld id="{5D2A821C-584A-47DC-B890-D82DDB70D9D5}" type="slidenum">
              <a:rPr lang="en-US" smtClean="0"/>
              <a:t>13</a:t>
            </a:fld>
            <a:endParaRPr lang="en-US"/>
          </a:p>
        </p:txBody>
      </p:sp>
    </p:spTree>
    <p:extLst>
      <p:ext uri="{BB962C8B-B14F-4D97-AF65-F5344CB8AC3E}">
        <p14:creationId xmlns:p14="http://schemas.microsoft.com/office/powerpoint/2010/main" val="358227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51703-85E2-2586-52FD-78C9E201C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D2D3FC-8136-E4CF-7E83-6968A291E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D4F0C-465D-63EB-B74C-B338603384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140476-FBC4-ABBB-CD00-99FBB59DE119}"/>
              </a:ext>
            </a:extLst>
          </p:cNvPr>
          <p:cNvSpPr>
            <a:spLocks noGrp="1"/>
          </p:cNvSpPr>
          <p:nvPr>
            <p:ph type="sldNum" sz="quarter" idx="5"/>
          </p:nvPr>
        </p:nvSpPr>
        <p:spPr/>
        <p:txBody>
          <a:bodyPr/>
          <a:lstStyle/>
          <a:p>
            <a:fld id="{5D2A821C-584A-47DC-B890-D82DDB70D9D5}" type="slidenum">
              <a:rPr lang="en-US" smtClean="0"/>
              <a:t>14</a:t>
            </a:fld>
            <a:endParaRPr lang="en-US"/>
          </a:p>
        </p:txBody>
      </p:sp>
    </p:spTree>
    <p:extLst>
      <p:ext uri="{BB962C8B-B14F-4D97-AF65-F5344CB8AC3E}">
        <p14:creationId xmlns:p14="http://schemas.microsoft.com/office/powerpoint/2010/main" val="2344865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9E1EA-251E-D528-239E-55462843D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66E700-E1F8-2AC2-AAA7-16E6DE29B2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930A9-3FF4-C82E-2D74-1605AD0EFD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673077-137D-F645-C24D-730CD4B1BC6A}"/>
              </a:ext>
            </a:extLst>
          </p:cNvPr>
          <p:cNvSpPr>
            <a:spLocks noGrp="1"/>
          </p:cNvSpPr>
          <p:nvPr>
            <p:ph type="sldNum" sz="quarter" idx="5"/>
          </p:nvPr>
        </p:nvSpPr>
        <p:spPr/>
        <p:txBody>
          <a:bodyPr/>
          <a:lstStyle/>
          <a:p>
            <a:fld id="{5D2A821C-584A-47DC-B890-D82DDB70D9D5}" type="slidenum">
              <a:rPr lang="en-US" smtClean="0"/>
              <a:t>15</a:t>
            </a:fld>
            <a:endParaRPr lang="en-US"/>
          </a:p>
        </p:txBody>
      </p:sp>
    </p:spTree>
    <p:extLst>
      <p:ext uri="{BB962C8B-B14F-4D97-AF65-F5344CB8AC3E}">
        <p14:creationId xmlns:p14="http://schemas.microsoft.com/office/powerpoint/2010/main" val="3756884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E74CA-27B8-104B-F185-434B3065E1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A31EA-0DAF-3F14-B698-562C9A8F35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43BF8-239E-7761-0F37-7E811D4F91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A32661-9ED6-699A-FC87-323E9488D888}"/>
              </a:ext>
            </a:extLst>
          </p:cNvPr>
          <p:cNvSpPr>
            <a:spLocks noGrp="1"/>
          </p:cNvSpPr>
          <p:nvPr>
            <p:ph type="sldNum" sz="quarter" idx="5"/>
          </p:nvPr>
        </p:nvSpPr>
        <p:spPr/>
        <p:txBody>
          <a:bodyPr/>
          <a:lstStyle/>
          <a:p>
            <a:fld id="{5D2A821C-584A-47DC-B890-D82DDB70D9D5}" type="slidenum">
              <a:rPr lang="en-US" smtClean="0"/>
              <a:t>16</a:t>
            </a:fld>
            <a:endParaRPr lang="en-US"/>
          </a:p>
        </p:txBody>
      </p:sp>
    </p:spTree>
    <p:extLst>
      <p:ext uri="{BB962C8B-B14F-4D97-AF65-F5344CB8AC3E}">
        <p14:creationId xmlns:p14="http://schemas.microsoft.com/office/powerpoint/2010/main" val="40609952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69ADF-EA7A-79B7-EBD7-64855DFE7D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A3484-0FAA-AD99-74C4-62DA8DC55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F028E-0BA2-350D-5B30-4807550441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EBE72D-728D-2DEC-72D6-CB165D725D69}"/>
              </a:ext>
            </a:extLst>
          </p:cNvPr>
          <p:cNvSpPr>
            <a:spLocks noGrp="1"/>
          </p:cNvSpPr>
          <p:nvPr>
            <p:ph type="sldNum" sz="quarter" idx="5"/>
          </p:nvPr>
        </p:nvSpPr>
        <p:spPr/>
        <p:txBody>
          <a:bodyPr/>
          <a:lstStyle/>
          <a:p>
            <a:fld id="{5D2A821C-584A-47DC-B890-D82DDB70D9D5}" type="slidenum">
              <a:rPr lang="en-US" smtClean="0"/>
              <a:t>17</a:t>
            </a:fld>
            <a:endParaRPr lang="en-US"/>
          </a:p>
        </p:txBody>
      </p:sp>
    </p:spTree>
    <p:extLst>
      <p:ext uri="{BB962C8B-B14F-4D97-AF65-F5344CB8AC3E}">
        <p14:creationId xmlns:p14="http://schemas.microsoft.com/office/powerpoint/2010/main" val="2251490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B611C-E901-9B90-BB0A-32A54C3F00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BCAD0-488E-CFB2-3993-CCCE31294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EDE08C-9ECC-AC6F-069F-B7B55B274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6DAAF0-60ED-9DED-BCF0-7EB843AC1242}"/>
              </a:ext>
            </a:extLst>
          </p:cNvPr>
          <p:cNvSpPr>
            <a:spLocks noGrp="1"/>
          </p:cNvSpPr>
          <p:nvPr>
            <p:ph type="sldNum" sz="quarter" idx="5"/>
          </p:nvPr>
        </p:nvSpPr>
        <p:spPr/>
        <p:txBody>
          <a:bodyPr/>
          <a:lstStyle/>
          <a:p>
            <a:fld id="{5D2A821C-584A-47DC-B890-D82DDB70D9D5}" type="slidenum">
              <a:rPr lang="en-US" smtClean="0"/>
              <a:t>18</a:t>
            </a:fld>
            <a:endParaRPr lang="en-US"/>
          </a:p>
        </p:txBody>
      </p:sp>
    </p:spTree>
    <p:extLst>
      <p:ext uri="{BB962C8B-B14F-4D97-AF65-F5344CB8AC3E}">
        <p14:creationId xmlns:p14="http://schemas.microsoft.com/office/powerpoint/2010/main" val="2258539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3B4DD-7A86-2304-542F-1C393F972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7016AF-0DA3-8328-A249-D2830F82A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4D04D-466A-D7EA-0CC8-D254CEE3D7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DE0B16-4DBC-B414-9BE4-09E49BBE4804}"/>
              </a:ext>
            </a:extLst>
          </p:cNvPr>
          <p:cNvSpPr>
            <a:spLocks noGrp="1"/>
          </p:cNvSpPr>
          <p:nvPr>
            <p:ph type="sldNum" sz="quarter" idx="5"/>
          </p:nvPr>
        </p:nvSpPr>
        <p:spPr/>
        <p:txBody>
          <a:bodyPr/>
          <a:lstStyle/>
          <a:p>
            <a:fld id="{5D2A821C-584A-47DC-B890-D82DDB70D9D5}" type="slidenum">
              <a:rPr lang="en-US" smtClean="0"/>
              <a:t>19</a:t>
            </a:fld>
            <a:endParaRPr lang="en-US"/>
          </a:p>
        </p:txBody>
      </p:sp>
    </p:spTree>
    <p:extLst>
      <p:ext uri="{BB962C8B-B14F-4D97-AF65-F5344CB8AC3E}">
        <p14:creationId xmlns:p14="http://schemas.microsoft.com/office/powerpoint/2010/main" val="4202320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EE87A-2729-BC68-80F1-7348277D4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AFD82-0488-0939-DF97-92A1012E7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445415-A58D-595E-18EA-87C7BC530D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0583C6-80B7-895D-915B-571BF6D740C9}"/>
              </a:ext>
            </a:extLst>
          </p:cNvPr>
          <p:cNvSpPr>
            <a:spLocks noGrp="1"/>
          </p:cNvSpPr>
          <p:nvPr>
            <p:ph type="sldNum" sz="quarter" idx="5"/>
          </p:nvPr>
        </p:nvSpPr>
        <p:spPr/>
        <p:txBody>
          <a:bodyPr/>
          <a:lstStyle/>
          <a:p>
            <a:fld id="{5D2A821C-584A-47DC-B890-D82DDB70D9D5}" type="slidenum">
              <a:rPr lang="en-US" smtClean="0"/>
              <a:t>20</a:t>
            </a:fld>
            <a:endParaRPr lang="en-US"/>
          </a:p>
        </p:txBody>
      </p:sp>
    </p:spTree>
    <p:extLst>
      <p:ext uri="{BB962C8B-B14F-4D97-AF65-F5344CB8AC3E}">
        <p14:creationId xmlns:p14="http://schemas.microsoft.com/office/powerpoint/2010/main" val="24323182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2876E-55CF-AD15-10C4-28ECF227E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B58E0-6D41-0EE3-F134-1D539EFCEB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F1F50-4BC3-9845-6DE9-8C0954B544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641FE2-A8FF-5E97-67D1-FD67BB61BD75}"/>
              </a:ext>
            </a:extLst>
          </p:cNvPr>
          <p:cNvSpPr>
            <a:spLocks noGrp="1"/>
          </p:cNvSpPr>
          <p:nvPr>
            <p:ph type="sldNum" sz="quarter" idx="5"/>
          </p:nvPr>
        </p:nvSpPr>
        <p:spPr/>
        <p:txBody>
          <a:bodyPr/>
          <a:lstStyle/>
          <a:p>
            <a:fld id="{5D2A821C-584A-47DC-B890-D82DDB70D9D5}" type="slidenum">
              <a:rPr lang="en-US" smtClean="0"/>
              <a:t>21</a:t>
            </a:fld>
            <a:endParaRPr lang="en-US"/>
          </a:p>
        </p:txBody>
      </p:sp>
    </p:spTree>
    <p:extLst>
      <p:ext uri="{BB962C8B-B14F-4D97-AF65-F5344CB8AC3E}">
        <p14:creationId xmlns:p14="http://schemas.microsoft.com/office/powerpoint/2010/main" val="32993117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458D1-D68C-3B58-90D4-08C4C8CEB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36E15-7F67-A187-F0F1-592D5B5B9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7E3A9A-4209-CAC0-AC80-889C4A07B3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659F79-1A67-B39C-635A-0DE10DA1C4FB}"/>
              </a:ext>
            </a:extLst>
          </p:cNvPr>
          <p:cNvSpPr>
            <a:spLocks noGrp="1"/>
          </p:cNvSpPr>
          <p:nvPr>
            <p:ph type="sldNum" sz="quarter" idx="5"/>
          </p:nvPr>
        </p:nvSpPr>
        <p:spPr/>
        <p:txBody>
          <a:bodyPr/>
          <a:lstStyle/>
          <a:p>
            <a:fld id="{5D2A821C-584A-47DC-B890-D82DDB70D9D5}" type="slidenum">
              <a:rPr lang="en-US" smtClean="0"/>
              <a:t>22</a:t>
            </a:fld>
            <a:endParaRPr lang="en-US"/>
          </a:p>
        </p:txBody>
      </p:sp>
    </p:spTree>
    <p:extLst>
      <p:ext uri="{BB962C8B-B14F-4D97-AF65-F5344CB8AC3E}">
        <p14:creationId xmlns:p14="http://schemas.microsoft.com/office/powerpoint/2010/main" val="3024334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27827-9FC5-69EB-9AB2-43B46E4F86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459479-C0A2-6A94-6F08-D20849FF3F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7C12FC-4449-F021-42D2-93ECE6526334}"/>
              </a:ext>
            </a:extLst>
          </p:cNvPr>
          <p:cNvSpPr>
            <a:spLocks noGrp="1"/>
          </p:cNvSpPr>
          <p:nvPr>
            <p:ph type="dt" sz="half" idx="10"/>
          </p:nvPr>
        </p:nvSpPr>
        <p:spPr/>
        <p:txBody>
          <a:bodyPr/>
          <a:lstStyle/>
          <a:p>
            <a:fld id="{20D0DF26-F85A-41E8-A0B5-CD3E841DC4D9}" type="datetimeFigureOut">
              <a:rPr lang="en-US" smtClean="0"/>
              <a:t>10/12/2026</a:t>
            </a:fld>
            <a:endParaRPr lang="en-US"/>
          </a:p>
        </p:txBody>
      </p:sp>
      <p:sp>
        <p:nvSpPr>
          <p:cNvPr id="5" name="Footer Placeholder 4">
            <a:extLst>
              <a:ext uri="{FF2B5EF4-FFF2-40B4-BE49-F238E27FC236}">
                <a16:creationId xmlns:a16="http://schemas.microsoft.com/office/drawing/2014/main" id="{BEF858E6-A62D-DD38-AD1E-FCE1F44C5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46443-E717-0B10-5D08-D9B21176A54F}"/>
              </a:ext>
            </a:extLst>
          </p:cNvPr>
          <p:cNvSpPr>
            <a:spLocks noGrp="1"/>
          </p:cNvSpPr>
          <p:nvPr>
            <p:ph type="sldNum" sz="quarter" idx="12"/>
          </p:nvPr>
        </p:nvSpPr>
        <p:spPr/>
        <p:txBody>
          <a:bodyPr/>
          <a:lstStyle/>
          <a:p>
            <a:fld id="{A73A4F34-4A9D-4042-91A3-67F349264AAD}" type="slidenum">
              <a:rPr lang="en-US" smtClean="0"/>
              <a:t>‹#›</a:t>
            </a:fld>
            <a:endParaRPr lang="en-US"/>
          </a:p>
        </p:txBody>
      </p:sp>
    </p:spTree>
    <p:extLst>
      <p:ext uri="{BB962C8B-B14F-4D97-AF65-F5344CB8AC3E}">
        <p14:creationId xmlns:p14="http://schemas.microsoft.com/office/powerpoint/2010/main" val="1856764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6B8F6-9C54-CC66-F35D-261746263E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48C63C-2724-13E9-D3CA-09631B69E2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41F757-5998-350F-1A33-492A08125F29}"/>
              </a:ext>
            </a:extLst>
          </p:cNvPr>
          <p:cNvSpPr>
            <a:spLocks noGrp="1"/>
          </p:cNvSpPr>
          <p:nvPr>
            <p:ph type="dt" sz="half" idx="10"/>
          </p:nvPr>
        </p:nvSpPr>
        <p:spPr/>
        <p:txBody>
          <a:bodyPr/>
          <a:lstStyle/>
          <a:p>
            <a:fld id="{20D0DF26-F85A-41E8-A0B5-CD3E841DC4D9}" type="datetimeFigureOut">
              <a:rPr lang="en-US" smtClean="0"/>
              <a:t>10/12/2026</a:t>
            </a:fld>
            <a:endParaRPr lang="en-US"/>
          </a:p>
        </p:txBody>
      </p:sp>
      <p:sp>
        <p:nvSpPr>
          <p:cNvPr id="5" name="Footer Placeholder 4">
            <a:extLst>
              <a:ext uri="{FF2B5EF4-FFF2-40B4-BE49-F238E27FC236}">
                <a16:creationId xmlns:a16="http://schemas.microsoft.com/office/drawing/2014/main" id="{3A41B269-F7DA-0ACD-379E-7262945228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D891D2-12AC-B03F-5454-FDBCD91DDFAB}"/>
              </a:ext>
            </a:extLst>
          </p:cNvPr>
          <p:cNvSpPr>
            <a:spLocks noGrp="1"/>
          </p:cNvSpPr>
          <p:nvPr>
            <p:ph type="sldNum" sz="quarter" idx="12"/>
          </p:nvPr>
        </p:nvSpPr>
        <p:spPr/>
        <p:txBody>
          <a:bodyPr/>
          <a:lstStyle/>
          <a:p>
            <a:fld id="{A73A4F34-4A9D-4042-91A3-67F349264AAD}" type="slidenum">
              <a:rPr lang="en-US" smtClean="0"/>
              <a:t>‹#›</a:t>
            </a:fld>
            <a:endParaRPr lang="en-US"/>
          </a:p>
        </p:txBody>
      </p:sp>
    </p:spTree>
    <p:extLst>
      <p:ext uri="{BB962C8B-B14F-4D97-AF65-F5344CB8AC3E}">
        <p14:creationId xmlns:p14="http://schemas.microsoft.com/office/powerpoint/2010/main" val="4239751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EF06A-10F1-019F-F39D-C3AF46511A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E875DE-EDC0-F02B-EBDF-CCF4E40070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AE52DA-25E0-532F-25A8-4B1006D23824}"/>
              </a:ext>
            </a:extLst>
          </p:cNvPr>
          <p:cNvSpPr>
            <a:spLocks noGrp="1"/>
          </p:cNvSpPr>
          <p:nvPr>
            <p:ph type="dt" sz="half" idx="10"/>
          </p:nvPr>
        </p:nvSpPr>
        <p:spPr/>
        <p:txBody>
          <a:bodyPr/>
          <a:lstStyle/>
          <a:p>
            <a:fld id="{20D0DF26-F85A-41E8-A0B5-CD3E841DC4D9}" type="datetimeFigureOut">
              <a:rPr lang="en-US" smtClean="0"/>
              <a:t>10/12/2026</a:t>
            </a:fld>
            <a:endParaRPr lang="en-US"/>
          </a:p>
        </p:txBody>
      </p:sp>
      <p:sp>
        <p:nvSpPr>
          <p:cNvPr id="5" name="Footer Placeholder 4">
            <a:extLst>
              <a:ext uri="{FF2B5EF4-FFF2-40B4-BE49-F238E27FC236}">
                <a16:creationId xmlns:a16="http://schemas.microsoft.com/office/drawing/2014/main" id="{75FFA3C0-5BED-0ADD-7CBC-E0BDE8FA62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AD2509-8E43-DFA8-79AF-F275079B5607}"/>
              </a:ext>
            </a:extLst>
          </p:cNvPr>
          <p:cNvSpPr>
            <a:spLocks noGrp="1"/>
          </p:cNvSpPr>
          <p:nvPr>
            <p:ph type="sldNum" sz="quarter" idx="12"/>
          </p:nvPr>
        </p:nvSpPr>
        <p:spPr/>
        <p:txBody>
          <a:bodyPr/>
          <a:lstStyle/>
          <a:p>
            <a:fld id="{A73A4F34-4A9D-4042-91A3-67F349264AAD}" type="slidenum">
              <a:rPr lang="en-US" smtClean="0"/>
              <a:t>‹#›</a:t>
            </a:fld>
            <a:endParaRPr lang="en-US"/>
          </a:p>
        </p:txBody>
      </p:sp>
    </p:spTree>
    <p:extLst>
      <p:ext uri="{BB962C8B-B14F-4D97-AF65-F5344CB8AC3E}">
        <p14:creationId xmlns:p14="http://schemas.microsoft.com/office/powerpoint/2010/main" val="491360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43512-F303-7DE1-EDE5-CE4358025E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499275-51B1-8E46-8716-9D35FC31C0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01AB65-30A5-2B34-49EE-42A43E80A1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156E6C-9334-DB36-F5A6-79DFA645E105}"/>
              </a:ext>
            </a:extLst>
          </p:cNvPr>
          <p:cNvSpPr>
            <a:spLocks noGrp="1"/>
          </p:cNvSpPr>
          <p:nvPr>
            <p:ph type="dt" sz="half" idx="10"/>
          </p:nvPr>
        </p:nvSpPr>
        <p:spPr/>
        <p:txBody>
          <a:bodyPr/>
          <a:lstStyle/>
          <a:p>
            <a:fld id="{20D0DF26-F85A-41E8-A0B5-CD3E841DC4D9}" type="datetimeFigureOut">
              <a:rPr lang="en-US" smtClean="0"/>
              <a:t>10/12/2026</a:t>
            </a:fld>
            <a:endParaRPr lang="en-US"/>
          </a:p>
        </p:txBody>
      </p:sp>
      <p:sp>
        <p:nvSpPr>
          <p:cNvPr id="6" name="Footer Placeholder 5">
            <a:extLst>
              <a:ext uri="{FF2B5EF4-FFF2-40B4-BE49-F238E27FC236}">
                <a16:creationId xmlns:a16="http://schemas.microsoft.com/office/drawing/2014/main" id="{54D6E97E-4D77-B700-0462-CC16E088AD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505947-F9A5-9A2D-5919-D72360906A43}"/>
              </a:ext>
            </a:extLst>
          </p:cNvPr>
          <p:cNvSpPr>
            <a:spLocks noGrp="1"/>
          </p:cNvSpPr>
          <p:nvPr>
            <p:ph type="sldNum" sz="quarter" idx="12"/>
          </p:nvPr>
        </p:nvSpPr>
        <p:spPr/>
        <p:txBody>
          <a:bodyPr/>
          <a:lstStyle/>
          <a:p>
            <a:fld id="{A73A4F34-4A9D-4042-91A3-67F349264AAD}" type="slidenum">
              <a:rPr lang="en-US" smtClean="0"/>
              <a:t>‹#›</a:t>
            </a:fld>
            <a:endParaRPr lang="en-US"/>
          </a:p>
        </p:txBody>
      </p:sp>
    </p:spTree>
    <p:extLst>
      <p:ext uri="{BB962C8B-B14F-4D97-AF65-F5344CB8AC3E}">
        <p14:creationId xmlns:p14="http://schemas.microsoft.com/office/powerpoint/2010/main" val="351453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9B14-9EAB-320E-5514-20B2A77E10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A40F29-77A9-9B12-07F3-E41484D88D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E768C2-90B6-E44A-181E-333B428E96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F09298-85AE-5610-46DD-DAAA90BA49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593D1E-E301-30A0-1B2A-3E9749AC48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7F1CCF-3987-C796-E34F-372EF9AC4C8A}"/>
              </a:ext>
            </a:extLst>
          </p:cNvPr>
          <p:cNvSpPr>
            <a:spLocks noGrp="1"/>
          </p:cNvSpPr>
          <p:nvPr>
            <p:ph type="dt" sz="half" idx="10"/>
          </p:nvPr>
        </p:nvSpPr>
        <p:spPr/>
        <p:txBody>
          <a:bodyPr/>
          <a:lstStyle/>
          <a:p>
            <a:fld id="{20D0DF26-F85A-41E8-A0B5-CD3E841DC4D9}" type="datetimeFigureOut">
              <a:rPr lang="en-US" smtClean="0"/>
              <a:t>10/12/2026</a:t>
            </a:fld>
            <a:endParaRPr lang="en-US"/>
          </a:p>
        </p:txBody>
      </p:sp>
      <p:sp>
        <p:nvSpPr>
          <p:cNvPr id="8" name="Footer Placeholder 7">
            <a:extLst>
              <a:ext uri="{FF2B5EF4-FFF2-40B4-BE49-F238E27FC236}">
                <a16:creationId xmlns:a16="http://schemas.microsoft.com/office/drawing/2014/main" id="{61412B05-862D-A7FB-4C3E-A51CAA63DA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1F16CF-FF62-C47A-4A7F-6FEFFCEDEBD8}"/>
              </a:ext>
            </a:extLst>
          </p:cNvPr>
          <p:cNvSpPr>
            <a:spLocks noGrp="1"/>
          </p:cNvSpPr>
          <p:nvPr>
            <p:ph type="sldNum" sz="quarter" idx="12"/>
          </p:nvPr>
        </p:nvSpPr>
        <p:spPr/>
        <p:txBody>
          <a:bodyPr/>
          <a:lstStyle/>
          <a:p>
            <a:fld id="{A73A4F34-4A9D-4042-91A3-67F349264AAD}" type="slidenum">
              <a:rPr lang="en-US" smtClean="0"/>
              <a:t>‹#›</a:t>
            </a:fld>
            <a:endParaRPr lang="en-US"/>
          </a:p>
        </p:txBody>
      </p:sp>
    </p:spTree>
    <p:extLst>
      <p:ext uri="{BB962C8B-B14F-4D97-AF65-F5344CB8AC3E}">
        <p14:creationId xmlns:p14="http://schemas.microsoft.com/office/powerpoint/2010/main" val="1928677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ADC9-FDCF-0296-B7BF-C0386A944C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FA4378-DA4C-1EA4-3277-040F5E0A772A}"/>
              </a:ext>
            </a:extLst>
          </p:cNvPr>
          <p:cNvSpPr>
            <a:spLocks noGrp="1"/>
          </p:cNvSpPr>
          <p:nvPr>
            <p:ph type="dt" sz="half" idx="10"/>
          </p:nvPr>
        </p:nvSpPr>
        <p:spPr/>
        <p:txBody>
          <a:bodyPr/>
          <a:lstStyle/>
          <a:p>
            <a:fld id="{20D0DF26-F85A-41E8-A0B5-CD3E841DC4D9}" type="datetimeFigureOut">
              <a:rPr lang="en-US" smtClean="0"/>
              <a:t>10/12/2026</a:t>
            </a:fld>
            <a:endParaRPr lang="en-US"/>
          </a:p>
        </p:txBody>
      </p:sp>
      <p:sp>
        <p:nvSpPr>
          <p:cNvPr id="4" name="Footer Placeholder 3">
            <a:extLst>
              <a:ext uri="{FF2B5EF4-FFF2-40B4-BE49-F238E27FC236}">
                <a16:creationId xmlns:a16="http://schemas.microsoft.com/office/drawing/2014/main" id="{FAA9B0E7-1C57-ED1C-CDBF-D384A68352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B9D17D-561C-9A0A-02CE-6A492D186BA5}"/>
              </a:ext>
            </a:extLst>
          </p:cNvPr>
          <p:cNvSpPr>
            <a:spLocks noGrp="1"/>
          </p:cNvSpPr>
          <p:nvPr>
            <p:ph type="sldNum" sz="quarter" idx="12"/>
          </p:nvPr>
        </p:nvSpPr>
        <p:spPr/>
        <p:txBody>
          <a:bodyPr/>
          <a:lstStyle/>
          <a:p>
            <a:fld id="{A73A4F34-4A9D-4042-91A3-67F349264AAD}" type="slidenum">
              <a:rPr lang="en-US" smtClean="0"/>
              <a:t>‹#›</a:t>
            </a:fld>
            <a:endParaRPr lang="en-US"/>
          </a:p>
        </p:txBody>
      </p:sp>
    </p:spTree>
    <p:extLst>
      <p:ext uri="{BB962C8B-B14F-4D97-AF65-F5344CB8AC3E}">
        <p14:creationId xmlns:p14="http://schemas.microsoft.com/office/powerpoint/2010/main" val="2826105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95933F-3EC2-EEE0-ACBA-5A34F01ABAA7}"/>
              </a:ext>
            </a:extLst>
          </p:cNvPr>
          <p:cNvSpPr>
            <a:spLocks noGrp="1"/>
          </p:cNvSpPr>
          <p:nvPr>
            <p:ph type="dt" sz="half" idx="10"/>
          </p:nvPr>
        </p:nvSpPr>
        <p:spPr/>
        <p:txBody>
          <a:bodyPr/>
          <a:lstStyle/>
          <a:p>
            <a:fld id="{20D0DF26-F85A-41E8-A0B5-CD3E841DC4D9}" type="datetimeFigureOut">
              <a:rPr lang="en-US" smtClean="0"/>
              <a:t>10/12/2026</a:t>
            </a:fld>
            <a:endParaRPr lang="en-US"/>
          </a:p>
        </p:txBody>
      </p:sp>
      <p:sp>
        <p:nvSpPr>
          <p:cNvPr id="3" name="Footer Placeholder 2">
            <a:extLst>
              <a:ext uri="{FF2B5EF4-FFF2-40B4-BE49-F238E27FC236}">
                <a16:creationId xmlns:a16="http://schemas.microsoft.com/office/drawing/2014/main" id="{63D45EEF-B9E6-7118-7214-F49B412917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9EDCC8-1B99-7E8C-10E1-EEB70FCE292C}"/>
              </a:ext>
            </a:extLst>
          </p:cNvPr>
          <p:cNvSpPr>
            <a:spLocks noGrp="1"/>
          </p:cNvSpPr>
          <p:nvPr>
            <p:ph type="sldNum" sz="quarter" idx="12"/>
          </p:nvPr>
        </p:nvSpPr>
        <p:spPr/>
        <p:txBody>
          <a:bodyPr/>
          <a:lstStyle/>
          <a:p>
            <a:fld id="{A73A4F34-4A9D-4042-91A3-67F349264AAD}" type="slidenum">
              <a:rPr lang="en-US" smtClean="0"/>
              <a:t>‹#›</a:t>
            </a:fld>
            <a:endParaRPr lang="en-US"/>
          </a:p>
        </p:txBody>
      </p:sp>
    </p:spTree>
    <p:extLst>
      <p:ext uri="{BB962C8B-B14F-4D97-AF65-F5344CB8AC3E}">
        <p14:creationId xmlns:p14="http://schemas.microsoft.com/office/powerpoint/2010/main" val="1377628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08F1A-15CB-0C1A-72A4-4856AC50BE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11F5BC-C549-9878-29BE-D5F6E3EF5D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DBDCC8-B34D-EC60-EEFB-0DE57EBC49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48EA42-D044-FBCD-BFF5-EBCA16B45642}"/>
              </a:ext>
            </a:extLst>
          </p:cNvPr>
          <p:cNvSpPr>
            <a:spLocks noGrp="1"/>
          </p:cNvSpPr>
          <p:nvPr>
            <p:ph type="dt" sz="half" idx="10"/>
          </p:nvPr>
        </p:nvSpPr>
        <p:spPr/>
        <p:txBody>
          <a:bodyPr/>
          <a:lstStyle/>
          <a:p>
            <a:fld id="{20D0DF26-F85A-41E8-A0B5-CD3E841DC4D9}" type="datetimeFigureOut">
              <a:rPr lang="en-US" smtClean="0"/>
              <a:t>10/12/2026</a:t>
            </a:fld>
            <a:endParaRPr lang="en-US"/>
          </a:p>
        </p:txBody>
      </p:sp>
      <p:sp>
        <p:nvSpPr>
          <p:cNvPr id="6" name="Footer Placeholder 5">
            <a:extLst>
              <a:ext uri="{FF2B5EF4-FFF2-40B4-BE49-F238E27FC236}">
                <a16:creationId xmlns:a16="http://schemas.microsoft.com/office/drawing/2014/main" id="{74223D52-BF6C-EA86-1F04-B5B1AF2853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DF7443-88A7-7AF0-2226-A024B5D71EC7}"/>
              </a:ext>
            </a:extLst>
          </p:cNvPr>
          <p:cNvSpPr>
            <a:spLocks noGrp="1"/>
          </p:cNvSpPr>
          <p:nvPr>
            <p:ph type="sldNum" sz="quarter" idx="12"/>
          </p:nvPr>
        </p:nvSpPr>
        <p:spPr/>
        <p:txBody>
          <a:bodyPr/>
          <a:lstStyle/>
          <a:p>
            <a:fld id="{A73A4F34-4A9D-4042-91A3-67F349264AAD}" type="slidenum">
              <a:rPr lang="en-US" smtClean="0"/>
              <a:t>‹#›</a:t>
            </a:fld>
            <a:endParaRPr lang="en-US"/>
          </a:p>
        </p:txBody>
      </p:sp>
    </p:spTree>
    <p:extLst>
      <p:ext uri="{BB962C8B-B14F-4D97-AF65-F5344CB8AC3E}">
        <p14:creationId xmlns:p14="http://schemas.microsoft.com/office/powerpoint/2010/main" val="1933579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89707-62CD-FBE6-E546-C5960E31BA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6D5036-0EB5-7A42-9069-44B35B9C88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FBD8FF-3E45-CBBA-D1AA-8906000BE5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0D6F10-805C-16E0-9AC8-B52D5617D986}"/>
              </a:ext>
            </a:extLst>
          </p:cNvPr>
          <p:cNvSpPr>
            <a:spLocks noGrp="1"/>
          </p:cNvSpPr>
          <p:nvPr>
            <p:ph type="dt" sz="half" idx="10"/>
          </p:nvPr>
        </p:nvSpPr>
        <p:spPr/>
        <p:txBody>
          <a:bodyPr/>
          <a:lstStyle/>
          <a:p>
            <a:fld id="{20D0DF26-F85A-41E8-A0B5-CD3E841DC4D9}" type="datetimeFigureOut">
              <a:rPr lang="en-US" smtClean="0"/>
              <a:t>10/12/2026</a:t>
            </a:fld>
            <a:endParaRPr lang="en-US"/>
          </a:p>
        </p:txBody>
      </p:sp>
      <p:sp>
        <p:nvSpPr>
          <p:cNvPr id="6" name="Footer Placeholder 5">
            <a:extLst>
              <a:ext uri="{FF2B5EF4-FFF2-40B4-BE49-F238E27FC236}">
                <a16:creationId xmlns:a16="http://schemas.microsoft.com/office/drawing/2014/main" id="{84B10DE7-4A08-0E9D-6471-BFDB52C1F8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DE750D-71F9-600B-571B-449DC5E43115}"/>
              </a:ext>
            </a:extLst>
          </p:cNvPr>
          <p:cNvSpPr>
            <a:spLocks noGrp="1"/>
          </p:cNvSpPr>
          <p:nvPr>
            <p:ph type="sldNum" sz="quarter" idx="12"/>
          </p:nvPr>
        </p:nvSpPr>
        <p:spPr/>
        <p:txBody>
          <a:bodyPr/>
          <a:lstStyle/>
          <a:p>
            <a:fld id="{A73A4F34-4A9D-4042-91A3-67F349264AAD}" type="slidenum">
              <a:rPr lang="en-US" smtClean="0"/>
              <a:t>‹#›</a:t>
            </a:fld>
            <a:endParaRPr lang="en-US"/>
          </a:p>
        </p:txBody>
      </p:sp>
    </p:spTree>
    <p:extLst>
      <p:ext uri="{BB962C8B-B14F-4D97-AF65-F5344CB8AC3E}">
        <p14:creationId xmlns:p14="http://schemas.microsoft.com/office/powerpoint/2010/main" val="10876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7DF17-E74D-05BD-D345-1910E6590B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FBD894-5C41-F064-7280-B3CE3B7C0A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B77AD-5649-786D-E401-DCFF38FDCE16}"/>
              </a:ext>
            </a:extLst>
          </p:cNvPr>
          <p:cNvSpPr>
            <a:spLocks noGrp="1"/>
          </p:cNvSpPr>
          <p:nvPr>
            <p:ph type="dt" sz="half" idx="10"/>
          </p:nvPr>
        </p:nvSpPr>
        <p:spPr/>
        <p:txBody>
          <a:bodyPr/>
          <a:lstStyle/>
          <a:p>
            <a:fld id="{20D0DF26-F85A-41E8-A0B5-CD3E841DC4D9}" type="datetimeFigureOut">
              <a:rPr lang="en-US" smtClean="0"/>
              <a:t>10/12/2026</a:t>
            </a:fld>
            <a:endParaRPr lang="en-US"/>
          </a:p>
        </p:txBody>
      </p:sp>
      <p:sp>
        <p:nvSpPr>
          <p:cNvPr id="5" name="Footer Placeholder 4">
            <a:extLst>
              <a:ext uri="{FF2B5EF4-FFF2-40B4-BE49-F238E27FC236}">
                <a16:creationId xmlns:a16="http://schemas.microsoft.com/office/drawing/2014/main" id="{4CC663E4-FAE4-CE23-5268-7B407ED86E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5D147F-D049-1859-E9F7-2A6DB814D240}"/>
              </a:ext>
            </a:extLst>
          </p:cNvPr>
          <p:cNvSpPr>
            <a:spLocks noGrp="1"/>
          </p:cNvSpPr>
          <p:nvPr>
            <p:ph type="sldNum" sz="quarter" idx="12"/>
          </p:nvPr>
        </p:nvSpPr>
        <p:spPr/>
        <p:txBody>
          <a:bodyPr/>
          <a:lstStyle/>
          <a:p>
            <a:fld id="{A73A4F34-4A9D-4042-91A3-67F349264AAD}" type="slidenum">
              <a:rPr lang="en-US" smtClean="0"/>
              <a:t>‹#›</a:t>
            </a:fld>
            <a:endParaRPr lang="en-US"/>
          </a:p>
        </p:txBody>
      </p:sp>
    </p:spTree>
    <p:extLst>
      <p:ext uri="{BB962C8B-B14F-4D97-AF65-F5344CB8AC3E}">
        <p14:creationId xmlns:p14="http://schemas.microsoft.com/office/powerpoint/2010/main" val="2713582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5EE39B-9E2D-94C0-1187-60D925C7DD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F6EE0D-F0F5-877B-76A5-D6B54531CB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CFDDBF-FE06-7C7D-C337-13954E944B92}"/>
              </a:ext>
            </a:extLst>
          </p:cNvPr>
          <p:cNvSpPr>
            <a:spLocks noGrp="1"/>
          </p:cNvSpPr>
          <p:nvPr>
            <p:ph type="dt" sz="half" idx="10"/>
          </p:nvPr>
        </p:nvSpPr>
        <p:spPr/>
        <p:txBody>
          <a:bodyPr/>
          <a:lstStyle/>
          <a:p>
            <a:fld id="{20D0DF26-F85A-41E8-A0B5-CD3E841DC4D9}" type="datetimeFigureOut">
              <a:rPr lang="en-US" smtClean="0"/>
              <a:t>10/12/2026</a:t>
            </a:fld>
            <a:endParaRPr lang="en-US"/>
          </a:p>
        </p:txBody>
      </p:sp>
      <p:sp>
        <p:nvSpPr>
          <p:cNvPr id="5" name="Footer Placeholder 4">
            <a:extLst>
              <a:ext uri="{FF2B5EF4-FFF2-40B4-BE49-F238E27FC236}">
                <a16:creationId xmlns:a16="http://schemas.microsoft.com/office/drawing/2014/main" id="{11E43486-70C0-5C61-FE2E-9FE0BA0AFE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2366BA-605B-9C9C-476E-3C6AE1E75038}"/>
              </a:ext>
            </a:extLst>
          </p:cNvPr>
          <p:cNvSpPr>
            <a:spLocks noGrp="1"/>
          </p:cNvSpPr>
          <p:nvPr>
            <p:ph type="sldNum" sz="quarter" idx="12"/>
          </p:nvPr>
        </p:nvSpPr>
        <p:spPr/>
        <p:txBody>
          <a:bodyPr/>
          <a:lstStyle/>
          <a:p>
            <a:fld id="{A73A4F34-4A9D-4042-91A3-67F349264AAD}" type="slidenum">
              <a:rPr lang="en-US" smtClean="0"/>
              <a:t>‹#›</a:t>
            </a:fld>
            <a:endParaRPr lang="en-US"/>
          </a:p>
        </p:txBody>
      </p:sp>
    </p:spTree>
    <p:extLst>
      <p:ext uri="{BB962C8B-B14F-4D97-AF65-F5344CB8AC3E}">
        <p14:creationId xmlns:p14="http://schemas.microsoft.com/office/powerpoint/2010/main" val="130317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4F580E-2B93-7EB9-12F9-9C8B90AD12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E93DCB-E045-0008-C034-69F15E9292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F4DE1-F365-9A77-8F7A-94CF027FC6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D0DF26-F85A-41E8-A0B5-CD3E841DC4D9}" type="datetimeFigureOut">
              <a:rPr lang="en-US" smtClean="0"/>
              <a:t>10/12/2026</a:t>
            </a:fld>
            <a:endParaRPr lang="en-US"/>
          </a:p>
        </p:txBody>
      </p:sp>
      <p:sp>
        <p:nvSpPr>
          <p:cNvPr id="5" name="Footer Placeholder 4">
            <a:extLst>
              <a:ext uri="{FF2B5EF4-FFF2-40B4-BE49-F238E27FC236}">
                <a16:creationId xmlns:a16="http://schemas.microsoft.com/office/drawing/2014/main" id="{8325FC47-0410-0134-9E22-9819A11C5C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044E8F-EB75-CFC4-573E-D3DFBE45F6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3A4F34-4A9D-4042-91A3-67F349264AAD}" type="slidenum">
              <a:rPr lang="en-US" smtClean="0"/>
              <a:t>‹#›</a:t>
            </a:fld>
            <a:endParaRPr lang="en-US"/>
          </a:p>
        </p:txBody>
      </p:sp>
      <p:sp>
        <p:nvSpPr>
          <p:cNvPr id="8" name="TextBox 7">
            <a:extLst>
              <a:ext uri="{FF2B5EF4-FFF2-40B4-BE49-F238E27FC236}">
                <a16:creationId xmlns:a16="http://schemas.microsoft.com/office/drawing/2014/main" id="{1169DCB1-7BEB-8F19-E512-B1B1F499EC1A}"/>
              </a:ext>
            </a:extLst>
          </p:cNvPr>
          <p:cNvSpPr txBox="1"/>
          <p:nvPr userDrawn="1">
            <p:extLst>
              <p:ext uri="{1162E1C5-73C7-4A58-AE30-91384D911F3F}">
                <p184:classification xmlns:p184="http://schemas.microsoft.com/office/powerpoint/2018/4/main" val="hdr"/>
              </p:ext>
            </p:extLst>
          </p:nvPr>
        </p:nvSpPr>
        <p:spPr>
          <a:xfrm>
            <a:off x="5428425" y="63500"/>
            <a:ext cx="1355725"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SMU Classification: Restricted</a:t>
            </a:r>
          </a:p>
        </p:txBody>
      </p:sp>
    </p:spTree>
    <p:extLst>
      <p:ext uri="{BB962C8B-B14F-4D97-AF65-F5344CB8AC3E}">
        <p14:creationId xmlns:p14="http://schemas.microsoft.com/office/powerpoint/2010/main" val="1584568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app.n8n.cloud/login"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63984-640B-FB7A-4C87-B2C67BA9F8C7}"/>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C945DA08-5F7C-4170-557B-F9216F80391D}"/>
              </a:ext>
            </a:extLst>
          </p:cNvPr>
          <p:cNvSpPr txBox="1"/>
          <p:nvPr/>
        </p:nvSpPr>
        <p:spPr>
          <a:xfrm>
            <a:off x="516731" y="92447"/>
            <a:ext cx="11158538" cy="545727"/>
          </a:xfrm>
          <a:prstGeom prst="rect">
            <a:avLst/>
          </a:prstGeom>
          <a:noFill/>
        </p:spPr>
        <p:txBody>
          <a:bodyPr wrap="square">
            <a:spAutoFit/>
          </a:bodyPr>
          <a:lstStyle/>
          <a:p>
            <a:pPr algn="ctr">
              <a:lnSpc>
                <a:spcPct val="115000"/>
              </a:lnSpc>
              <a:spcAft>
                <a:spcPts val="800"/>
              </a:spcAft>
            </a:pPr>
            <a:r>
              <a:rPr lang="en-US" sz="2800" b="1" kern="100" dirty="0">
                <a:effectLst/>
                <a:latin typeface="Arial" panose="020B0604020202020204" pitchFamily="34" charset="0"/>
                <a:ea typeface="Aptos" panose="020B0004020202020204" pitchFamily="34" charset="0"/>
                <a:cs typeface="Latha" panose="020B0604020202020204" pitchFamily="34" charset="0"/>
              </a:rPr>
              <a:t>ISFS614 - </a:t>
            </a:r>
            <a:r>
              <a:rPr lang="en-US" sz="2800" b="1" kern="100" dirty="0">
                <a:latin typeface="Arial" panose="020B0604020202020204" pitchFamily="34" charset="0"/>
                <a:cs typeface="Latha" panose="020B0604020202020204" pitchFamily="34" charset="0"/>
              </a:rPr>
              <a:t>Digital Banking &amp; Trends</a:t>
            </a:r>
          </a:p>
        </p:txBody>
      </p:sp>
      <p:pic>
        <p:nvPicPr>
          <p:cNvPr id="2" name="Picture 1">
            <a:extLst>
              <a:ext uri="{FF2B5EF4-FFF2-40B4-BE49-F238E27FC236}">
                <a16:creationId xmlns:a16="http://schemas.microsoft.com/office/drawing/2014/main" id="{D98D79BC-9076-60E7-F6DA-29056E7F45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082" y="862965"/>
            <a:ext cx="10125393" cy="5699848"/>
          </a:xfrm>
          <a:prstGeom prst="rect">
            <a:avLst/>
          </a:prstGeom>
          <a:noFill/>
          <a:ln>
            <a:noFill/>
          </a:ln>
        </p:spPr>
      </p:pic>
    </p:spTree>
    <p:extLst>
      <p:ext uri="{BB962C8B-B14F-4D97-AF65-F5344CB8AC3E}">
        <p14:creationId xmlns:p14="http://schemas.microsoft.com/office/powerpoint/2010/main" val="83058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43066-49DB-19BE-8E38-87A886FAC5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190D02A-F045-0893-3EA9-4CCA08586808}"/>
              </a:ext>
            </a:extLst>
          </p:cNvPr>
          <p:cNvSpPr txBox="1"/>
          <p:nvPr/>
        </p:nvSpPr>
        <p:spPr>
          <a:xfrm>
            <a:off x="786899" y="752022"/>
            <a:ext cx="10388600" cy="5869364"/>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US" b="1" dirty="0"/>
              <a:t>Agentic AI Conceptual Design</a:t>
            </a:r>
            <a:r>
              <a:rPr lang="en-US" dirty="0"/>
              <a:t> </a:t>
            </a:r>
          </a:p>
          <a:p>
            <a:pPr marL="285750" lvl="0" indent="-285750">
              <a:lnSpc>
                <a:spcPct val="150000"/>
              </a:lnSpc>
              <a:buFont typeface="Arial" panose="020B0604020202020204" pitchFamily="34" charset="0"/>
              <a:buChar char="•"/>
            </a:pPr>
            <a:r>
              <a:rPr lang="en-US" b="1" dirty="0"/>
              <a:t>Business Scenario</a:t>
            </a:r>
            <a:r>
              <a:rPr lang="en-US" dirty="0"/>
              <a:t> </a:t>
            </a:r>
          </a:p>
          <a:p>
            <a:pPr marL="285750" lvl="0" indent="-285750">
              <a:lnSpc>
                <a:spcPct val="150000"/>
              </a:lnSpc>
              <a:buFont typeface="Arial" panose="020B0604020202020204" pitchFamily="34" charset="0"/>
              <a:buChar char="•"/>
            </a:pPr>
            <a:r>
              <a:rPr lang="en-US" b="1" dirty="0"/>
              <a:t>Business Requirements</a:t>
            </a:r>
            <a:r>
              <a:rPr lang="en-US" dirty="0"/>
              <a:t> </a:t>
            </a:r>
          </a:p>
          <a:p>
            <a:pPr marL="285750" lvl="0" indent="-285750">
              <a:lnSpc>
                <a:spcPct val="150000"/>
              </a:lnSpc>
              <a:buFont typeface="Arial" panose="020B0604020202020204" pitchFamily="34" charset="0"/>
              <a:buChar char="•"/>
            </a:pPr>
            <a:r>
              <a:rPr lang="en-US" b="1" dirty="0"/>
              <a:t>Logical Design</a:t>
            </a:r>
            <a:r>
              <a:rPr lang="en-US" dirty="0"/>
              <a:t> </a:t>
            </a:r>
          </a:p>
          <a:p>
            <a:pPr marL="285750" lvl="0" indent="-285750">
              <a:lnSpc>
                <a:spcPct val="150000"/>
              </a:lnSpc>
              <a:buFont typeface="Arial" panose="020B0604020202020204" pitchFamily="34" charset="0"/>
              <a:buChar char="•"/>
            </a:pPr>
            <a:r>
              <a:rPr lang="en-US" b="1" dirty="0"/>
              <a:t>Agentic AI Risk Assessment Workflow  (Tasks 1–7)</a:t>
            </a:r>
          </a:p>
          <a:p>
            <a:pPr marL="285750" lvl="0" indent="-285750">
              <a:lnSpc>
                <a:spcPct val="150000"/>
              </a:lnSpc>
              <a:buFont typeface="Arial" panose="020B0604020202020204" pitchFamily="34" charset="0"/>
              <a:buChar char="•"/>
            </a:pPr>
            <a:r>
              <a:rPr lang="en-US" b="1" dirty="0"/>
              <a:t>Lab Flow</a:t>
            </a:r>
            <a:endParaRPr lang="en-US" dirty="0"/>
          </a:p>
          <a:p>
            <a:pPr marL="742950" lvl="1" indent="-285750">
              <a:lnSpc>
                <a:spcPct val="150000"/>
              </a:lnSpc>
              <a:buFont typeface="Arial" panose="020B0604020202020204" pitchFamily="34" charset="0"/>
              <a:buChar char="•"/>
            </a:pPr>
            <a:r>
              <a:rPr lang="en-US" b="1" dirty="0">
                <a:solidFill>
                  <a:schemeClr val="accent2">
                    <a:lumMod val="75000"/>
                  </a:schemeClr>
                </a:solidFill>
              </a:rPr>
              <a:t>Lab 1 – Create Agent-1 (Tasks 1 – 4)</a:t>
            </a:r>
            <a:r>
              <a:rPr lang="en-US" dirty="0">
                <a:solidFill>
                  <a:schemeClr val="accent2">
                    <a:lumMod val="75000"/>
                  </a:schemeClr>
                </a:solidFill>
              </a:rPr>
              <a:t> </a:t>
            </a:r>
          </a:p>
          <a:p>
            <a:pPr marL="742950" lvl="1" indent="-285750">
              <a:lnSpc>
                <a:spcPct val="150000"/>
              </a:lnSpc>
              <a:buFont typeface="Arial" panose="020B0604020202020204" pitchFamily="34" charset="0"/>
              <a:buChar char="•"/>
            </a:pPr>
            <a:r>
              <a:rPr lang="en-US" b="1" dirty="0">
                <a:solidFill>
                  <a:schemeClr val="accent2">
                    <a:lumMod val="75000"/>
                  </a:schemeClr>
                </a:solidFill>
              </a:rPr>
              <a:t>Lab 2 – Create Agent-2 &amp; Agent-3 (Tasks 5 – 6)</a:t>
            </a:r>
            <a:r>
              <a:rPr lang="en-US" dirty="0">
                <a:solidFill>
                  <a:schemeClr val="accent2">
                    <a:lumMod val="75000"/>
                  </a:schemeClr>
                </a:solidFill>
              </a:rPr>
              <a:t> </a:t>
            </a:r>
          </a:p>
          <a:p>
            <a:pPr marL="742950" lvl="1" indent="-285750">
              <a:lnSpc>
                <a:spcPct val="150000"/>
              </a:lnSpc>
              <a:buFont typeface="Arial" panose="020B0604020202020204" pitchFamily="34" charset="0"/>
              <a:buChar char="•"/>
            </a:pPr>
            <a:r>
              <a:rPr lang="en-US" b="1" dirty="0">
                <a:solidFill>
                  <a:schemeClr val="accent2">
                    <a:lumMod val="75000"/>
                  </a:schemeClr>
                </a:solidFill>
              </a:rPr>
              <a:t>Lab 3 – Create Agentic AI Orchestrator (Task 7)</a:t>
            </a:r>
            <a:r>
              <a:rPr lang="en-US" dirty="0">
                <a:solidFill>
                  <a:schemeClr val="accent2">
                    <a:lumMod val="75000"/>
                  </a:schemeClr>
                </a:solidFill>
              </a:rPr>
              <a:t> </a:t>
            </a:r>
          </a:p>
          <a:p>
            <a:pPr marL="285750" lvl="0" indent="-285750">
              <a:lnSpc>
                <a:spcPct val="150000"/>
              </a:lnSpc>
              <a:buFont typeface="Arial" panose="020B0604020202020204" pitchFamily="34" charset="0"/>
              <a:buChar char="•"/>
            </a:pPr>
            <a:r>
              <a:rPr lang="en-US" b="1" dirty="0"/>
              <a:t>Lab Deliverables</a:t>
            </a:r>
            <a:r>
              <a:rPr lang="en-US" dirty="0"/>
              <a:t> </a:t>
            </a:r>
          </a:p>
          <a:p>
            <a:pPr marL="742950" lvl="1" indent="-285750">
              <a:lnSpc>
                <a:spcPct val="150000"/>
              </a:lnSpc>
              <a:buFont typeface="Arial" panose="020B0604020202020204" pitchFamily="34" charset="0"/>
              <a:buChar char="•"/>
            </a:pPr>
            <a:r>
              <a:rPr lang="en-US" b="1" dirty="0">
                <a:solidFill>
                  <a:srgbClr val="00B050"/>
                </a:solidFill>
              </a:rPr>
              <a:t>Lab 1 – R1 Customer Profile Risk Report</a:t>
            </a:r>
          </a:p>
          <a:p>
            <a:pPr marL="742950" lvl="1" indent="-285750">
              <a:lnSpc>
                <a:spcPct val="150000"/>
              </a:lnSpc>
              <a:buFont typeface="Arial" panose="020B0604020202020204" pitchFamily="34" charset="0"/>
              <a:buChar char="•"/>
            </a:pPr>
            <a:r>
              <a:rPr lang="en-US" b="1" dirty="0">
                <a:solidFill>
                  <a:srgbClr val="00B050"/>
                </a:solidFill>
              </a:rPr>
              <a:t>Lab 2 – </a:t>
            </a:r>
            <a:r>
              <a:rPr lang="sv-SE" b="1" dirty="0">
                <a:solidFill>
                  <a:srgbClr val="00B050"/>
                </a:solidFill>
              </a:rPr>
              <a:t>R2 Transaction Pattern Risk Report, </a:t>
            </a:r>
            <a:r>
              <a:rPr lang="en-US" b="1" dirty="0">
                <a:solidFill>
                  <a:srgbClr val="00B050"/>
                </a:solidFill>
              </a:rPr>
              <a:t>and R3 Regulatory Screening Report</a:t>
            </a:r>
            <a:endParaRPr lang="en-US" dirty="0">
              <a:solidFill>
                <a:srgbClr val="00B050"/>
              </a:solidFill>
            </a:endParaRPr>
          </a:p>
          <a:p>
            <a:pPr marL="742950" lvl="1" indent="-285750">
              <a:lnSpc>
                <a:spcPct val="150000"/>
              </a:lnSpc>
              <a:buFont typeface="Arial" panose="020B0604020202020204" pitchFamily="34" charset="0"/>
              <a:buChar char="•"/>
            </a:pPr>
            <a:r>
              <a:rPr lang="en-US" b="1" dirty="0">
                <a:solidFill>
                  <a:srgbClr val="00B050"/>
                </a:solidFill>
              </a:rPr>
              <a:t>Lab 3 – R4 Agentic AI Recommendation Report and Management Risk Dashboard</a:t>
            </a:r>
          </a:p>
          <a:p>
            <a:pPr marL="285750" indent="-285750">
              <a:lnSpc>
                <a:spcPct val="150000"/>
              </a:lnSpc>
              <a:buFont typeface="Arial" panose="020B0604020202020204" pitchFamily="34" charset="0"/>
              <a:buChar char="•"/>
            </a:pPr>
            <a:r>
              <a:rPr lang="en-US" b="1" dirty="0"/>
              <a:t>Lab setup</a:t>
            </a:r>
          </a:p>
        </p:txBody>
      </p:sp>
      <p:sp>
        <p:nvSpPr>
          <p:cNvPr id="7" name="TextBox 6">
            <a:extLst>
              <a:ext uri="{FF2B5EF4-FFF2-40B4-BE49-F238E27FC236}">
                <a16:creationId xmlns:a16="http://schemas.microsoft.com/office/drawing/2014/main" id="{9E75F6B4-AAB7-CC54-EF75-120EE9CA505A}"/>
              </a:ext>
            </a:extLst>
          </p:cNvPr>
          <p:cNvSpPr txBox="1"/>
          <p:nvPr/>
        </p:nvSpPr>
        <p:spPr>
          <a:xfrm>
            <a:off x="516731" y="25072"/>
            <a:ext cx="11158538" cy="545727"/>
          </a:xfrm>
          <a:prstGeom prst="rect">
            <a:avLst/>
          </a:prstGeom>
          <a:noFill/>
        </p:spPr>
        <p:txBody>
          <a:bodyPr wrap="square">
            <a:spAutoFit/>
          </a:bodyPr>
          <a:lstStyle/>
          <a:p>
            <a:pPr algn="ctr">
              <a:lnSpc>
                <a:spcPct val="115000"/>
              </a:lnSpc>
              <a:spcAft>
                <a:spcPts val="800"/>
              </a:spcAft>
            </a:pPr>
            <a:r>
              <a:rPr lang="en-SG" sz="2800" b="1" kern="100" dirty="0">
                <a:latin typeface="Arial" panose="020B0604020202020204" pitchFamily="34" charset="0"/>
                <a:cs typeface="Latha" panose="020B0604020202020204" pitchFamily="34" charset="0"/>
              </a:rPr>
              <a:t>Agentic AI Risk Assessment Workflow Orchestration</a:t>
            </a:r>
            <a:endParaRPr lang="en-US" sz="2800" b="1" kern="100" dirty="0">
              <a:latin typeface="Arial" panose="020B0604020202020204" pitchFamily="34" charset="0"/>
              <a:cs typeface="Latha" panose="020B0604020202020204" pitchFamily="34" charset="0"/>
            </a:endParaRPr>
          </a:p>
        </p:txBody>
      </p:sp>
    </p:spTree>
    <p:extLst>
      <p:ext uri="{BB962C8B-B14F-4D97-AF65-F5344CB8AC3E}">
        <p14:creationId xmlns:p14="http://schemas.microsoft.com/office/powerpoint/2010/main" val="1294595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3744B-DC3A-C039-C873-B64F6BC7E64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6B2EEC3-3926-3F8F-6D3A-953ECC916825}"/>
              </a:ext>
            </a:extLst>
          </p:cNvPr>
          <p:cNvGraphicFramePr>
            <a:graphicFrameLocks noGrp="1"/>
          </p:cNvGraphicFramePr>
          <p:nvPr>
            <p:extLst>
              <p:ext uri="{D42A27DB-BD31-4B8C-83A1-F6EECF244321}">
                <p14:modId xmlns:p14="http://schemas.microsoft.com/office/powerpoint/2010/main" val="4048347979"/>
              </p:ext>
            </p:extLst>
          </p:nvPr>
        </p:nvGraphicFramePr>
        <p:xfrm>
          <a:off x="366525" y="30039"/>
          <a:ext cx="11656583" cy="945134"/>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400" dirty="0"/>
                        <a:t>Agentic AI Conceptual Design</a:t>
                      </a:r>
                      <a:endParaRPr lang="en-US" sz="2800" b="1" kern="100" dirty="0">
                        <a:solidFill>
                          <a:schemeClr val="lt1"/>
                        </a:solidFill>
                        <a:latin typeface="Arial" panose="020B0604020202020204" pitchFamily="34" charset="0"/>
                        <a:ea typeface="+mn-ea"/>
                        <a:cs typeface="Arial" panose="020B0604020202020204" pitchFamily="34" charset="0"/>
                      </a:endParaRP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r>
                        <a:rPr lang="en-US" sz="2400" dirty="0"/>
                        <a:t>AI &amp; GenAI Concepts Recap</a:t>
                      </a:r>
                      <a:endParaRPr lang="en-SG" sz="24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pic>
        <p:nvPicPr>
          <p:cNvPr id="5" name="Picture 4">
            <a:extLst>
              <a:ext uri="{FF2B5EF4-FFF2-40B4-BE49-F238E27FC236}">
                <a16:creationId xmlns:a16="http://schemas.microsoft.com/office/drawing/2014/main" id="{908ABDC2-203F-289A-146D-EC340D0D3E6D}"/>
              </a:ext>
            </a:extLst>
          </p:cNvPr>
          <p:cNvPicPr>
            <a:picLocks noChangeAspect="1"/>
          </p:cNvPicPr>
          <p:nvPr/>
        </p:nvPicPr>
        <p:blipFill>
          <a:blip r:embed="rId3"/>
          <a:stretch>
            <a:fillRect/>
          </a:stretch>
        </p:blipFill>
        <p:spPr>
          <a:xfrm>
            <a:off x="168892" y="621139"/>
            <a:ext cx="11916457" cy="5974394"/>
          </a:xfrm>
          <a:prstGeom prst="rect">
            <a:avLst/>
          </a:prstGeom>
        </p:spPr>
      </p:pic>
    </p:spTree>
    <p:extLst>
      <p:ext uri="{BB962C8B-B14F-4D97-AF65-F5344CB8AC3E}">
        <p14:creationId xmlns:p14="http://schemas.microsoft.com/office/powerpoint/2010/main" val="3917491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55F55-AA92-E2B9-6806-196DF1C09167}"/>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4049102-B9EE-BE08-0373-D1635D093575}"/>
              </a:ext>
            </a:extLst>
          </p:cNvPr>
          <p:cNvGraphicFramePr>
            <a:graphicFrameLocks noGrp="1"/>
          </p:cNvGraphicFramePr>
          <p:nvPr>
            <p:extLst>
              <p:ext uri="{D42A27DB-BD31-4B8C-83A1-F6EECF244321}">
                <p14:modId xmlns:p14="http://schemas.microsoft.com/office/powerpoint/2010/main" val="214632423"/>
              </p:ext>
            </p:extLst>
          </p:nvPr>
        </p:nvGraphicFramePr>
        <p:xfrm>
          <a:off x="154004" y="80147"/>
          <a:ext cx="11906450" cy="6673076"/>
        </p:xfrm>
        <a:graphic>
          <a:graphicData uri="http://schemas.openxmlformats.org/drawingml/2006/table">
            <a:tbl>
              <a:tblPr>
                <a:tableStyleId>{ED083AE6-46FA-4A59-8FB0-9F97EB10719F}</a:tableStyleId>
              </a:tblPr>
              <a:tblGrid>
                <a:gridCol w="1779571">
                  <a:extLst>
                    <a:ext uri="{9D8B030D-6E8A-4147-A177-3AD203B41FA5}">
                      <a16:colId xmlns:a16="http://schemas.microsoft.com/office/drawing/2014/main" val="990706621"/>
                    </a:ext>
                  </a:extLst>
                </a:gridCol>
                <a:gridCol w="4600575">
                  <a:extLst>
                    <a:ext uri="{9D8B030D-6E8A-4147-A177-3AD203B41FA5}">
                      <a16:colId xmlns:a16="http://schemas.microsoft.com/office/drawing/2014/main" val="3253510674"/>
                    </a:ext>
                  </a:extLst>
                </a:gridCol>
                <a:gridCol w="5526304">
                  <a:extLst>
                    <a:ext uri="{9D8B030D-6E8A-4147-A177-3AD203B41FA5}">
                      <a16:colId xmlns:a16="http://schemas.microsoft.com/office/drawing/2014/main" val="567281604"/>
                    </a:ext>
                  </a:extLst>
                </a:gridCol>
              </a:tblGrid>
              <a:tr h="309622">
                <a:tc>
                  <a:txBody>
                    <a:bodyPr/>
                    <a:lstStyle/>
                    <a:p>
                      <a:pPr algn="ctr">
                        <a:buNone/>
                      </a:pPr>
                      <a:r>
                        <a:rPr lang="en-US" sz="1800" b="1" dirty="0">
                          <a:solidFill>
                            <a:schemeClr val="bg1"/>
                          </a:solidFill>
                        </a:rPr>
                        <a:t>Terminology</a:t>
                      </a:r>
                    </a:p>
                  </a:txBody>
                  <a:tcPr marL="14361" marR="14361" marT="7180" marB="7180" anchor="ctr">
                    <a:solidFill>
                      <a:srgbClr val="0070C0"/>
                    </a:solidFill>
                  </a:tcPr>
                </a:tc>
                <a:tc>
                  <a:txBody>
                    <a:bodyPr/>
                    <a:lstStyle/>
                    <a:p>
                      <a:pPr algn="ctr">
                        <a:buNone/>
                      </a:pPr>
                      <a:r>
                        <a:rPr lang="en-SG" sz="1800" b="1" dirty="0">
                          <a:solidFill>
                            <a:schemeClr val="bg1"/>
                          </a:solidFill>
                        </a:rPr>
                        <a:t>Meaning</a:t>
                      </a:r>
                      <a:endParaRPr lang="en-US" sz="1800" b="1" dirty="0">
                        <a:solidFill>
                          <a:schemeClr val="bg1"/>
                        </a:solidFill>
                      </a:endParaRPr>
                    </a:p>
                  </a:txBody>
                  <a:tcPr marL="14361" marR="14361" marT="7180" marB="7180" anchor="ctr">
                    <a:solidFill>
                      <a:srgbClr val="0070C0"/>
                    </a:solidFill>
                  </a:tcPr>
                </a:tc>
                <a:tc>
                  <a:txBody>
                    <a:bodyPr/>
                    <a:lstStyle/>
                    <a:p>
                      <a:pPr algn="ctr">
                        <a:buNone/>
                      </a:pPr>
                      <a:r>
                        <a:rPr lang="en-US" sz="1800" b="1" dirty="0">
                          <a:solidFill>
                            <a:schemeClr val="bg1"/>
                          </a:solidFill>
                        </a:rPr>
                        <a:t>DXS Bank Example</a:t>
                      </a:r>
                    </a:p>
                  </a:txBody>
                  <a:tcPr marL="14361" marR="14361" marT="7180" marB="7180" anchor="ctr">
                    <a:solidFill>
                      <a:srgbClr val="0070C0"/>
                    </a:solidFill>
                  </a:tcPr>
                </a:tc>
                <a:extLst>
                  <a:ext uri="{0D108BD9-81ED-4DB2-BD59-A6C34878D82A}">
                    <a16:rowId xmlns:a16="http://schemas.microsoft.com/office/drawing/2014/main" val="2028133577"/>
                  </a:ext>
                </a:extLst>
              </a:tr>
              <a:tr h="701917">
                <a:tc>
                  <a:txBody>
                    <a:bodyPr/>
                    <a:lstStyle/>
                    <a:p>
                      <a:pPr algn="l">
                        <a:buNone/>
                      </a:pPr>
                      <a:r>
                        <a:rPr lang="en-US" sz="1400" b="1" dirty="0"/>
                        <a:t>Guardrails</a:t>
                      </a:r>
                      <a:endParaRPr lang="en-US" sz="1400" dirty="0"/>
                    </a:p>
                  </a:txBody>
                  <a:tcPr marL="14361" marR="14361" marT="7180" marB="7180" anchor="ctr"/>
                </a:tc>
                <a:tc>
                  <a:txBody>
                    <a:bodyPr/>
                    <a:lstStyle/>
                    <a:p>
                      <a:pPr algn="l">
                        <a:buNone/>
                      </a:pPr>
                      <a:r>
                        <a:rPr lang="en-US" sz="1400" dirty="0"/>
                        <a:t>Rules and restrictions that define what the AI is allowed and not allowed to do.</a:t>
                      </a:r>
                    </a:p>
                  </a:txBody>
                  <a:tcPr marL="14361" marR="14361" marT="7180" marB="7180" anchor="ctr"/>
                </a:tc>
                <a:tc>
                  <a:txBody>
                    <a:bodyPr/>
                    <a:lstStyle/>
                    <a:p>
                      <a:pPr algn="l">
                        <a:buNone/>
                      </a:pPr>
                      <a:r>
                        <a:rPr lang="en-US" sz="1400" dirty="0"/>
                        <a:t>DXS Bank tells the AI: </a:t>
                      </a:r>
                      <a:r>
                        <a:rPr lang="en-US" sz="1400" b="1" dirty="0"/>
                        <a:t>use only supplied data and rules, do not invent customer information, do not create new thresholds, and provide supporting evidence.</a:t>
                      </a:r>
                      <a:endParaRPr lang="en-US" sz="1400" dirty="0"/>
                    </a:p>
                  </a:txBody>
                  <a:tcPr marL="14361" marR="14361" marT="7180" marB="7180" anchor="ctr"/>
                </a:tc>
                <a:extLst>
                  <a:ext uri="{0D108BD9-81ED-4DB2-BD59-A6C34878D82A}">
                    <a16:rowId xmlns:a16="http://schemas.microsoft.com/office/drawing/2014/main" val="1024121955"/>
                  </a:ext>
                </a:extLst>
              </a:tr>
              <a:tr h="244240">
                <a:tc>
                  <a:txBody>
                    <a:bodyPr/>
                    <a:lstStyle/>
                    <a:p>
                      <a:pPr algn="l">
                        <a:buNone/>
                      </a:pPr>
                      <a:r>
                        <a:rPr lang="en-US" sz="1400" b="1" dirty="0"/>
                        <a:t>User Prompt</a:t>
                      </a:r>
                      <a:endParaRPr lang="en-US" sz="1400" dirty="0"/>
                    </a:p>
                  </a:txBody>
                  <a:tcPr marL="14361" marR="14361" marT="7180" marB="7180" anchor="ctr">
                    <a:solidFill>
                      <a:schemeClr val="bg1">
                        <a:lumMod val="95000"/>
                      </a:schemeClr>
                    </a:solidFill>
                  </a:tcPr>
                </a:tc>
                <a:tc>
                  <a:txBody>
                    <a:bodyPr/>
                    <a:lstStyle/>
                    <a:p>
                      <a:pPr algn="l">
                        <a:buNone/>
                      </a:pPr>
                      <a:r>
                        <a:rPr lang="en-US" sz="1400" dirty="0"/>
                        <a:t>The question or task that the user gives to the AI.</a:t>
                      </a:r>
                    </a:p>
                  </a:txBody>
                  <a:tcPr marL="14361" marR="14361" marT="7180" marB="7180" anchor="ctr">
                    <a:solidFill>
                      <a:schemeClr val="bg1">
                        <a:lumMod val="95000"/>
                      </a:schemeClr>
                    </a:solidFill>
                  </a:tcPr>
                </a:tc>
                <a:tc>
                  <a:txBody>
                    <a:bodyPr/>
                    <a:lstStyle/>
                    <a:p>
                      <a:pPr algn="l">
                        <a:buNone/>
                      </a:pPr>
                      <a:r>
                        <a:rPr lang="en-US" sz="1400" b="1" dirty="0"/>
                        <a:t>“Review this transaction against the supplied DXS Bank risk rules.”</a:t>
                      </a:r>
                      <a:endParaRPr lang="en-US" sz="1400" dirty="0"/>
                    </a:p>
                  </a:txBody>
                  <a:tcPr marL="14361" marR="14361" marT="7180" marB="7180" anchor="ctr">
                    <a:solidFill>
                      <a:schemeClr val="bg1">
                        <a:lumMod val="95000"/>
                      </a:schemeClr>
                    </a:solidFill>
                  </a:tcPr>
                </a:tc>
                <a:extLst>
                  <a:ext uri="{0D108BD9-81ED-4DB2-BD59-A6C34878D82A}">
                    <a16:rowId xmlns:a16="http://schemas.microsoft.com/office/drawing/2014/main" val="204411495"/>
                  </a:ext>
                </a:extLst>
              </a:tr>
              <a:tr h="473078">
                <a:tc>
                  <a:txBody>
                    <a:bodyPr/>
                    <a:lstStyle/>
                    <a:p>
                      <a:pPr algn="l">
                        <a:buNone/>
                      </a:pPr>
                      <a:r>
                        <a:rPr lang="en-US" sz="1400" b="1" dirty="0"/>
                        <a:t>System Prompt / System Message</a:t>
                      </a:r>
                      <a:endParaRPr lang="en-US" sz="1400" dirty="0"/>
                    </a:p>
                  </a:txBody>
                  <a:tcPr marL="14361" marR="14361" marT="7180" marB="7180" anchor="ctr"/>
                </a:tc>
                <a:tc>
                  <a:txBody>
                    <a:bodyPr/>
                    <a:lstStyle/>
                    <a:p>
                      <a:pPr algn="l">
                        <a:buNone/>
                      </a:pPr>
                      <a:r>
                        <a:rPr lang="en-US" sz="1400" dirty="0"/>
                        <a:t>Instructions that tell the AI how it should behave while performing the task.</a:t>
                      </a:r>
                    </a:p>
                  </a:txBody>
                  <a:tcPr marL="14361" marR="14361" marT="7180" marB="7180" anchor="ctr"/>
                </a:tc>
                <a:tc>
                  <a:txBody>
                    <a:bodyPr/>
                    <a:lstStyle/>
                    <a:p>
                      <a:pPr algn="l">
                        <a:buNone/>
                      </a:pPr>
                      <a:r>
                        <a:rPr lang="en-US" sz="1400" b="1" dirty="0"/>
                        <a:t>“Use only supplied data and rules. Do not invent information.”</a:t>
                      </a:r>
                      <a:endParaRPr lang="en-US" sz="1400" dirty="0"/>
                    </a:p>
                  </a:txBody>
                  <a:tcPr marL="14361" marR="14361" marT="7180" marB="7180" anchor="ctr"/>
                </a:tc>
                <a:extLst>
                  <a:ext uri="{0D108BD9-81ED-4DB2-BD59-A6C34878D82A}">
                    <a16:rowId xmlns:a16="http://schemas.microsoft.com/office/drawing/2014/main" val="3506491523"/>
                  </a:ext>
                </a:extLst>
              </a:tr>
              <a:tr h="473078">
                <a:tc>
                  <a:txBody>
                    <a:bodyPr/>
                    <a:lstStyle/>
                    <a:p>
                      <a:pPr algn="l">
                        <a:buNone/>
                      </a:pPr>
                      <a:r>
                        <a:rPr lang="en-US" sz="1400" b="1" dirty="0"/>
                        <a:t>Token</a:t>
                      </a:r>
                      <a:endParaRPr lang="en-US" sz="1400" dirty="0"/>
                    </a:p>
                  </a:txBody>
                  <a:tcPr marL="14361" marR="14361" marT="7180" marB="7180" anchor="ctr">
                    <a:solidFill>
                      <a:schemeClr val="bg1">
                        <a:lumMod val="95000"/>
                      </a:schemeClr>
                    </a:solidFill>
                  </a:tcPr>
                </a:tc>
                <a:tc>
                  <a:txBody>
                    <a:bodyPr/>
                    <a:lstStyle/>
                    <a:p>
                      <a:pPr algn="l">
                        <a:buNone/>
                      </a:pPr>
                      <a:r>
                        <a:rPr lang="en-US" sz="1400" dirty="0"/>
                        <a:t>A small unit of text that an AI model processes. A word may be represented by one or more tokens.</a:t>
                      </a:r>
                    </a:p>
                  </a:txBody>
                  <a:tcPr marL="14361" marR="14361" marT="7180" marB="7180" anchor="ctr">
                    <a:solidFill>
                      <a:schemeClr val="bg1">
                        <a:lumMod val="95000"/>
                      </a:schemeClr>
                    </a:solidFill>
                  </a:tcPr>
                </a:tc>
                <a:tc>
                  <a:txBody>
                    <a:bodyPr/>
                    <a:lstStyle/>
                    <a:p>
                      <a:pPr algn="l">
                        <a:buNone/>
                      </a:pPr>
                      <a:r>
                        <a:rPr lang="en-US" sz="1400" dirty="0"/>
                        <a:t>The instruction </a:t>
                      </a:r>
                      <a:r>
                        <a:rPr lang="en-US" sz="1400" b="1" dirty="0"/>
                        <a:t>“Review this transaction”</a:t>
                      </a:r>
                      <a:r>
                        <a:rPr lang="en-US" sz="1400" dirty="0"/>
                        <a:t> is broken into smaller units for the model to process.</a:t>
                      </a:r>
                    </a:p>
                  </a:txBody>
                  <a:tcPr marL="14361" marR="14361" marT="7180" marB="7180" anchor="ctr">
                    <a:solidFill>
                      <a:schemeClr val="bg1">
                        <a:lumMod val="95000"/>
                      </a:schemeClr>
                    </a:solidFill>
                  </a:tcPr>
                </a:tc>
                <a:extLst>
                  <a:ext uri="{0D108BD9-81ED-4DB2-BD59-A6C34878D82A}">
                    <a16:rowId xmlns:a16="http://schemas.microsoft.com/office/drawing/2014/main" val="1609619926"/>
                  </a:ext>
                </a:extLst>
              </a:tr>
              <a:tr h="473078">
                <a:tc>
                  <a:txBody>
                    <a:bodyPr/>
                    <a:lstStyle/>
                    <a:p>
                      <a:pPr algn="l">
                        <a:buNone/>
                      </a:pPr>
                      <a:r>
                        <a:rPr lang="en-US" sz="1400" b="1" dirty="0"/>
                        <a:t>Tokenization</a:t>
                      </a:r>
                      <a:endParaRPr lang="en-US" sz="1400" dirty="0"/>
                    </a:p>
                  </a:txBody>
                  <a:tcPr marL="14361" marR="14361" marT="7180" marB="7180" anchor="ctr"/>
                </a:tc>
                <a:tc>
                  <a:txBody>
                    <a:bodyPr/>
                    <a:lstStyle/>
                    <a:p>
                      <a:pPr algn="l">
                        <a:buNone/>
                      </a:pPr>
                      <a:r>
                        <a:rPr lang="en-US" sz="1400" dirty="0"/>
                        <a:t>The process of breaking text into tokens before it is processed by the model.</a:t>
                      </a:r>
                    </a:p>
                  </a:txBody>
                  <a:tcPr marL="14361" marR="14361" marT="7180" marB="7180" anchor="ctr"/>
                </a:tc>
                <a:tc>
                  <a:txBody>
                    <a:bodyPr/>
                    <a:lstStyle/>
                    <a:p>
                      <a:pPr algn="l">
                        <a:buNone/>
                      </a:pPr>
                      <a:r>
                        <a:rPr lang="en-US" sz="1400" dirty="0"/>
                        <a:t>Review this transaction → smaller tokens that can be processed by the LLM.</a:t>
                      </a:r>
                    </a:p>
                  </a:txBody>
                  <a:tcPr marL="14361" marR="14361" marT="7180" marB="7180" anchor="ctr"/>
                </a:tc>
                <a:extLst>
                  <a:ext uri="{0D108BD9-81ED-4DB2-BD59-A6C34878D82A}">
                    <a16:rowId xmlns:a16="http://schemas.microsoft.com/office/drawing/2014/main" val="1292273208"/>
                  </a:ext>
                </a:extLst>
              </a:tr>
              <a:tr h="701917">
                <a:tc>
                  <a:txBody>
                    <a:bodyPr/>
                    <a:lstStyle/>
                    <a:p>
                      <a:pPr algn="l">
                        <a:buNone/>
                      </a:pPr>
                      <a:r>
                        <a:rPr lang="en-US" sz="1400" b="1" dirty="0"/>
                        <a:t>Context Window</a:t>
                      </a:r>
                      <a:endParaRPr lang="en-US" sz="1400" dirty="0"/>
                    </a:p>
                  </a:txBody>
                  <a:tcPr marL="14361" marR="14361" marT="7180" marB="7180" anchor="ctr">
                    <a:solidFill>
                      <a:schemeClr val="bg1">
                        <a:lumMod val="95000"/>
                      </a:schemeClr>
                    </a:solidFill>
                  </a:tcPr>
                </a:tc>
                <a:tc>
                  <a:txBody>
                    <a:bodyPr/>
                    <a:lstStyle/>
                    <a:p>
                      <a:pPr algn="l">
                        <a:buNone/>
                      </a:pPr>
                      <a:r>
                        <a:rPr lang="en-US" sz="1400" dirty="0"/>
                        <a:t>The limited amount of information the LLM can work with at one time — conceptually, its </a:t>
                      </a:r>
                      <a:r>
                        <a:rPr lang="en-US" sz="1400" b="1" dirty="0"/>
                        <a:t>working memory for the current task</a:t>
                      </a:r>
                      <a:r>
                        <a:rPr lang="en-US" sz="1400" dirty="0"/>
                        <a:t>.</a:t>
                      </a:r>
                    </a:p>
                  </a:txBody>
                  <a:tcPr marL="14361" marR="14361" marT="7180" marB="7180" anchor="ctr">
                    <a:solidFill>
                      <a:schemeClr val="bg1">
                        <a:lumMod val="95000"/>
                      </a:schemeClr>
                    </a:solidFill>
                  </a:tcPr>
                </a:tc>
                <a:tc>
                  <a:txBody>
                    <a:bodyPr/>
                    <a:lstStyle/>
                    <a:p>
                      <a:pPr algn="l">
                        <a:buNone/>
                      </a:pPr>
                      <a:r>
                        <a:rPr lang="en-US" sz="1400" dirty="0"/>
                        <a:t>The context window contains </a:t>
                      </a:r>
                      <a:r>
                        <a:rPr lang="en-US" sz="1400" dirty="0" err="1"/>
                        <a:t>Mr</a:t>
                      </a:r>
                      <a:r>
                        <a:rPr lang="en-US" sz="1400" dirty="0"/>
                        <a:t> Lim's details, transaction data, system instructions, DXS risk rules and the relevant policy retrieved through RAG.</a:t>
                      </a:r>
                    </a:p>
                  </a:txBody>
                  <a:tcPr marL="14361" marR="14361" marT="7180" marB="7180" anchor="ctr">
                    <a:solidFill>
                      <a:schemeClr val="bg1">
                        <a:lumMod val="95000"/>
                      </a:schemeClr>
                    </a:solidFill>
                  </a:tcPr>
                </a:tc>
                <a:extLst>
                  <a:ext uri="{0D108BD9-81ED-4DB2-BD59-A6C34878D82A}">
                    <a16:rowId xmlns:a16="http://schemas.microsoft.com/office/drawing/2014/main" val="2241044532"/>
                  </a:ext>
                </a:extLst>
              </a:tr>
              <a:tr h="701917">
                <a:tc>
                  <a:txBody>
                    <a:bodyPr/>
                    <a:lstStyle/>
                    <a:p>
                      <a:pPr algn="l">
                        <a:buNone/>
                      </a:pPr>
                      <a:r>
                        <a:rPr lang="en-US" sz="1400" b="1" dirty="0"/>
                        <a:t>RAG – Retrieval-Augmented Generation</a:t>
                      </a:r>
                      <a:endParaRPr lang="en-US" sz="1400" dirty="0"/>
                    </a:p>
                  </a:txBody>
                  <a:tcPr marL="14361" marR="14361" marT="7180" marB="7180" anchor="ctr"/>
                </a:tc>
                <a:tc>
                  <a:txBody>
                    <a:bodyPr/>
                    <a:lstStyle/>
                    <a:p>
                      <a:pPr algn="l">
                        <a:buNone/>
                      </a:pPr>
                      <a:r>
                        <a:rPr lang="en-US" sz="1400" dirty="0"/>
                        <a:t>A method that retrieves relevant information from an external knowledge source and gives it to the AI before it generates its answer.</a:t>
                      </a:r>
                    </a:p>
                  </a:txBody>
                  <a:tcPr marL="14361" marR="14361" marT="7180" marB="7180" anchor="ctr"/>
                </a:tc>
                <a:tc>
                  <a:txBody>
                    <a:bodyPr/>
                    <a:lstStyle/>
                    <a:p>
                      <a:pPr algn="l">
                        <a:buNone/>
                      </a:pPr>
                      <a:r>
                        <a:rPr lang="en-US" sz="1400" dirty="0"/>
                        <a:t>RAG searches DXS Bank's AML policy for guidance on </a:t>
                      </a:r>
                      <a:r>
                        <a:rPr lang="en-US" sz="1400" b="1" dirty="0"/>
                        <a:t>high-value transfers</a:t>
                      </a:r>
                      <a:r>
                        <a:rPr lang="en-US" sz="1400" dirty="0"/>
                        <a:t> and provides the relevant section to the AI.</a:t>
                      </a:r>
                    </a:p>
                  </a:txBody>
                  <a:tcPr marL="14361" marR="14361" marT="7180" marB="7180" anchor="ctr"/>
                </a:tc>
                <a:extLst>
                  <a:ext uri="{0D108BD9-81ED-4DB2-BD59-A6C34878D82A}">
                    <a16:rowId xmlns:a16="http://schemas.microsoft.com/office/drawing/2014/main" val="3093916684"/>
                  </a:ext>
                </a:extLst>
              </a:tr>
              <a:tr h="473078">
                <a:tc>
                  <a:txBody>
                    <a:bodyPr/>
                    <a:lstStyle/>
                    <a:p>
                      <a:pPr algn="l">
                        <a:buNone/>
                      </a:pPr>
                      <a:r>
                        <a:rPr lang="en-US" sz="1400" b="1" dirty="0"/>
                        <a:t>MCP – Model Context Protocol</a:t>
                      </a:r>
                      <a:endParaRPr lang="en-US" sz="1400" dirty="0"/>
                    </a:p>
                  </a:txBody>
                  <a:tcPr marL="14361" marR="14361" marT="7180" marB="7180" anchor="ctr">
                    <a:solidFill>
                      <a:schemeClr val="bg1">
                        <a:lumMod val="95000"/>
                      </a:schemeClr>
                    </a:solidFill>
                  </a:tcPr>
                </a:tc>
                <a:tc>
                  <a:txBody>
                    <a:bodyPr/>
                    <a:lstStyle/>
                    <a:p>
                      <a:pPr algn="l">
                        <a:buNone/>
                      </a:pPr>
                      <a:r>
                        <a:rPr lang="en-US" sz="1400" dirty="0"/>
                        <a:t>A standard way for AI applications to connect to external tools, data and resources.</a:t>
                      </a:r>
                    </a:p>
                  </a:txBody>
                  <a:tcPr marL="14361" marR="14361" marT="7180" marB="7180" anchor="ctr">
                    <a:solidFill>
                      <a:schemeClr val="bg1">
                        <a:lumMod val="95000"/>
                      </a:schemeClr>
                    </a:solidFill>
                  </a:tcPr>
                </a:tc>
                <a:tc>
                  <a:txBody>
                    <a:bodyPr/>
                    <a:lstStyle/>
                    <a:p>
                      <a:pPr algn="l">
                        <a:buNone/>
                      </a:pPr>
                      <a:r>
                        <a:rPr lang="en-US" sz="1400" dirty="0"/>
                        <a:t>MCP allows the DXS Bank AI application to connect to approved services such as </a:t>
                      </a:r>
                      <a:r>
                        <a:rPr lang="en-US" sz="1400" b="1" dirty="0"/>
                        <a:t>sanctions screening and KYC lookup</a:t>
                      </a:r>
                      <a:r>
                        <a:rPr lang="en-US" sz="1400" dirty="0"/>
                        <a:t>.</a:t>
                      </a:r>
                    </a:p>
                  </a:txBody>
                  <a:tcPr marL="14361" marR="14361" marT="7180" marB="7180" anchor="ctr">
                    <a:solidFill>
                      <a:schemeClr val="bg1">
                        <a:lumMod val="95000"/>
                      </a:schemeClr>
                    </a:solidFill>
                  </a:tcPr>
                </a:tc>
                <a:extLst>
                  <a:ext uri="{0D108BD9-81ED-4DB2-BD59-A6C34878D82A}">
                    <a16:rowId xmlns:a16="http://schemas.microsoft.com/office/drawing/2014/main" val="2700398147"/>
                  </a:ext>
                </a:extLst>
              </a:tr>
              <a:tr h="473078">
                <a:tc>
                  <a:txBody>
                    <a:bodyPr/>
                    <a:lstStyle/>
                    <a:p>
                      <a:pPr algn="l">
                        <a:buNone/>
                      </a:pPr>
                      <a:r>
                        <a:rPr lang="en-US" sz="1400" b="1" dirty="0"/>
                        <a:t>LLM – Large Language Model</a:t>
                      </a:r>
                      <a:endParaRPr lang="en-US" sz="1400" dirty="0"/>
                    </a:p>
                  </a:txBody>
                  <a:tcPr marL="14361" marR="14361" marT="7180" marB="7180" anchor="ctr"/>
                </a:tc>
                <a:tc>
                  <a:txBody>
                    <a:bodyPr/>
                    <a:lstStyle/>
                    <a:p>
                      <a:pPr algn="l">
                        <a:buNone/>
                      </a:pPr>
                      <a:r>
                        <a:rPr lang="en-US" sz="1400"/>
                        <a:t>The AI model that processes the available instructions and context and generates a response.</a:t>
                      </a:r>
                    </a:p>
                  </a:txBody>
                  <a:tcPr marL="14361" marR="14361" marT="7180" marB="7180" anchor="ctr"/>
                </a:tc>
                <a:tc>
                  <a:txBody>
                    <a:bodyPr/>
                    <a:lstStyle/>
                    <a:p>
                      <a:pPr algn="l">
                        <a:buNone/>
                      </a:pPr>
                      <a:r>
                        <a:rPr lang="en-US" sz="1400" dirty="0"/>
                        <a:t>The LLM reads </a:t>
                      </a:r>
                      <a:r>
                        <a:rPr lang="en-US" sz="1400" dirty="0" err="1"/>
                        <a:t>Mr</a:t>
                      </a:r>
                      <a:r>
                        <a:rPr lang="en-US" sz="1400" dirty="0"/>
                        <a:t> Lim's information, the risk rules and retrieved policy information and produces a transaction-risk assessment.</a:t>
                      </a:r>
                    </a:p>
                  </a:txBody>
                  <a:tcPr marL="14361" marR="14361" marT="7180" marB="7180" anchor="ctr"/>
                </a:tc>
                <a:extLst>
                  <a:ext uri="{0D108BD9-81ED-4DB2-BD59-A6C34878D82A}">
                    <a16:rowId xmlns:a16="http://schemas.microsoft.com/office/drawing/2014/main" val="2114221894"/>
                  </a:ext>
                </a:extLst>
              </a:tr>
              <a:tr h="701917">
                <a:tc>
                  <a:txBody>
                    <a:bodyPr/>
                    <a:lstStyle/>
                    <a:p>
                      <a:pPr algn="l">
                        <a:buNone/>
                      </a:pPr>
                      <a:r>
                        <a:rPr lang="en-US" sz="1400" b="1" dirty="0"/>
                        <a:t>Temperature</a:t>
                      </a:r>
                      <a:endParaRPr lang="en-US" sz="1400" dirty="0"/>
                    </a:p>
                  </a:txBody>
                  <a:tcPr marL="14361" marR="14361" marT="7180" marB="7180" anchor="ctr">
                    <a:solidFill>
                      <a:schemeClr val="bg1">
                        <a:lumMod val="95000"/>
                      </a:schemeClr>
                    </a:solidFill>
                  </a:tcPr>
                </a:tc>
                <a:tc>
                  <a:txBody>
                    <a:bodyPr/>
                    <a:lstStyle/>
                    <a:p>
                      <a:pPr algn="l">
                        <a:buNone/>
                      </a:pPr>
                      <a:r>
                        <a:rPr lang="en-US" sz="1400" dirty="0"/>
                        <a:t>A model setting that influences how variable or predictable generated responses are. Lower settings generally produce more consistent responses.</a:t>
                      </a:r>
                    </a:p>
                  </a:txBody>
                  <a:tcPr marL="14361" marR="14361" marT="7180" marB="7180" anchor="ctr">
                    <a:solidFill>
                      <a:schemeClr val="bg1">
                        <a:lumMod val="95000"/>
                      </a:schemeClr>
                    </a:solidFill>
                  </a:tcPr>
                </a:tc>
                <a:tc>
                  <a:txBody>
                    <a:bodyPr/>
                    <a:lstStyle/>
                    <a:p>
                      <a:pPr algn="l">
                        <a:buNone/>
                      </a:pPr>
                      <a:r>
                        <a:rPr lang="en-US" sz="1400" dirty="0"/>
                        <a:t>The slide uses </a:t>
                      </a:r>
                      <a:r>
                        <a:rPr lang="en-US" sz="1400" b="1" dirty="0"/>
                        <a:t>Low / 0.0</a:t>
                      </a:r>
                      <a:r>
                        <a:rPr lang="en-US" sz="1400" dirty="0"/>
                        <a:t> because a banking risk assessment should aim for consistent rather than creative responses.</a:t>
                      </a:r>
                    </a:p>
                  </a:txBody>
                  <a:tcPr marL="14361" marR="14361" marT="7180" marB="7180" anchor="ctr">
                    <a:solidFill>
                      <a:schemeClr val="bg1">
                        <a:lumMod val="95000"/>
                      </a:schemeClr>
                    </a:solidFill>
                  </a:tcPr>
                </a:tc>
                <a:extLst>
                  <a:ext uri="{0D108BD9-81ED-4DB2-BD59-A6C34878D82A}">
                    <a16:rowId xmlns:a16="http://schemas.microsoft.com/office/drawing/2014/main" val="1518706982"/>
                  </a:ext>
                </a:extLst>
              </a:tr>
              <a:tr h="473078">
                <a:tc>
                  <a:txBody>
                    <a:bodyPr/>
                    <a:lstStyle/>
                    <a:p>
                      <a:pPr algn="l">
                        <a:buNone/>
                      </a:pPr>
                      <a:r>
                        <a:rPr lang="en-US" sz="1400" b="1" dirty="0"/>
                        <a:t>Structured Output</a:t>
                      </a:r>
                      <a:endParaRPr lang="en-US" sz="1400" dirty="0"/>
                    </a:p>
                  </a:txBody>
                  <a:tcPr marL="14361" marR="14361" marT="7180" marB="7180" anchor="ctr"/>
                </a:tc>
                <a:tc>
                  <a:txBody>
                    <a:bodyPr/>
                    <a:lstStyle/>
                    <a:p>
                      <a:pPr algn="l">
                        <a:buNone/>
                      </a:pPr>
                      <a:r>
                        <a:rPr lang="en-US" sz="1400" dirty="0"/>
                        <a:t>AI output arranged in predefined fields so that another system or person can process it consistently.</a:t>
                      </a:r>
                    </a:p>
                  </a:txBody>
                  <a:tcPr marL="14361" marR="14361" marT="7180" marB="7180" anchor="ctr"/>
                </a:tc>
                <a:tc>
                  <a:txBody>
                    <a:bodyPr/>
                    <a:lstStyle/>
                    <a:p>
                      <a:pPr algn="l">
                        <a:buNone/>
                      </a:pPr>
                      <a:r>
                        <a:rPr lang="en-US" sz="1400" b="1" dirty="0"/>
                        <a:t>Risk Level: HIGH; Triggered Rule: Transfer &gt; threshold; Evidence: $18,000; Action: ESCALATE.</a:t>
                      </a:r>
                      <a:endParaRPr lang="en-US" sz="1400" dirty="0"/>
                    </a:p>
                  </a:txBody>
                  <a:tcPr marL="14361" marR="14361" marT="7180" marB="7180" anchor="ctr"/>
                </a:tc>
                <a:extLst>
                  <a:ext uri="{0D108BD9-81ED-4DB2-BD59-A6C34878D82A}">
                    <a16:rowId xmlns:a16="http://schemas.microsoft.com/office/drawing/2014/main" val="2852798543"/>
                  </a:ext>
                </a:extLst>
              </a:tr>
              <a:tr h="473078">
                <a:tc>
                  <a:txBody>
                    <a:bodyPr/>
                    <a:lstStyle/>
                    <a:p>
                      <a:pPr algn="l">
                        <a:buNone/>
                      </a:pPr>
                      <a:r>
                        <a:rPr lang="en-US" sz="1400" b="1" dirty="0"/>
                        <a:t>Human Review / Human-in-the-Loop</a:t>
                      </a:r>
                      <a:endParaRPr lang="en-US" sz="1400" dirty="0"/>
                    </a:p>
                  </a:txBody>
                  <a:tcPr marL="14361" marR="14361" marT="7180" marB="7180" anchor="ctr">
                    <a:solidFill>
                      <a:schemeClr val="bg1">
                        <a:lumMod val="95000"/>
                      </a:schemeClr>
                    </a:solidFill>
                  </a:tcPr>
                </a:tc>
                <a:tc>
                  <a:txBody>
                    <a:bodyPr/>
                    <a:lstStyle/>
                    <a:p>
                      <a:pPr algn="l">
                        <a:buNone/>
                      </a:pPr>
                      <a:r>
                        <a:rPr lang="en-US" sz="1400" dirty="0"/>
                        <a:t>A person reviews important AI results and retains responsibility for the final decision.</a:t>
                      </a:r>
                    </a:p>
                  </a:txBody>
                  <a:tcPr marL="14361" marR="14361" marT="7180" marB="7180" anchor="ctr">
                    <a:solidFill>
                      <a:schemeClr val="bg1">
                        <a:lumMod val="95000"/>
                      </a:schemeClr>
                    </a:solidFill>
                  </a:tcPr>
                </a:tc>
                <a:tc>
                  <a:txBody>
                    <a:bodyPr/>
                    <a:lstStyle/>
                    <a:p>
                      <a:pPr algn="l">
                        <a:buNone/>
                      </a:pPr>
                      <a:r>
                        <a:rPr lang="en-US" sz="1400" dirty="0"/>
                        <a:t>A </a:t>
                      </a:r>
                      <a:r>
                        <a:rPr lang="en-US" sz="1400" b="1" dirty="0"/>
                        <a:t>compliance analyst reviews the evidence and makes or confirms the final decision.</a:t>
                      </a:r>
                      <a:endParaRPr lang="en-US" sz="1400" dirty="0"/>
                    </a:p>
                  </a:txBody>
                  <a:tcPr marL="14361" marR="14361" marT="7180" marB="7180" anchor="ctr">
                    <a:solidFill>
                      <a:schemeClr val="bg1">
                        <a:lumMod val="95000"/>
                      </a:schemeClr>
                    </a:solidFill>
                  </a:tcPr>
                </a:tc>
                <a:extLst>
                  <a:ext uri="{0D108BD9-81ED-4DB2-BD59-A6C34878D82A}">
                    <a16:rowId xmlns:a16="http://schemas.microsoft.com/office/drawing/2014/main" val="1836554900"/>
                  </a:ext>
                </a:extLst>
              </a:tr>
            </a:tbl>
          </a:graphicData>
        </a:graphic>
      </p:graphicFrame>
    </p:spTree>
    <p:extLst>
      <p:ext uri="{BB962C8B-B14F-4D97-AF65-F5344CB8AC3E}">
        <p14:creationId xmlns:p14="http://schemas.microsoft.com/office/powerpoint/2010/main" val="3644115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4CE29-33D3-46E0-9FD5-D9BDBB52856E}"/>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AB211A0-2866-0619-9E95-D637536BC0D4}"/>
              </a:ext>
            </a:extLst>
          </p:cNvPr>
          <p:cNvGraphicFramePr>
            <a:graphicFrameLocks noGrp="1"/>
          </p:cNvGraphicFramePr>
          <p:nvPr>
            <p:extLst>
              <p:ext uri="{D42A27DB-BD31-4B8C-83A1-F6EECF244321}">
                <p14:modId xmlns:p14="http://schemas.microsoft.com/office/powerpoint/2010/main" val="3678904009"/>
              </p:ext>
            </p:extLst>
          </p:nvPr>
        </p:nvGraphicFramePr>
        <p:xfrm>
          <a:off x="558801" y="454502"/>
          <a:ext cx="11065932" cy="3938207"/>
        </p:xfrm>
        <a:graphic>
          <a:graphicData uri="http://schemas.openxmlformats.org/drawingml/2006/table">
            <a:tbl>
              <a:tblPr firstRow="1" bandRow="1">
                <a:tableStyleId>{5C22544A-7EE6-4342-B048-85BDC9FD1C3A}</a:tableStyleId>
              </a:tblPr>
              <a:tblGrid>
                <a:gridCol w="11065932">
                  <a:extLst>
                    <a:ext uri="{9D8B030D-6E8A-4147-A177-3AD203B41FA5}">
                      <a16:colId xmlns:a16="http://schemas.microsoft.com/office/drawing/2014/main" val="1614827574"/>
                    </a:ext>
                  </a:extLst>
                </a:gridCol>
              </a:tblGrid>
              <a:tr h="370840">
                <a:tc>
                  <a:txBody>
                    <a:bodyPr/>
                    <a:lstStyle/>
                    <a:p>
                      <a:pPr algn="ctr">
                        <a:lnSpc>
                          <a:spcPct val="115000"/>
                        </a:lnSpc>
                        <a:spcAft>
                          <a:spcPts val="800"/>
                        </a:spcAft>
                        <a:buNone/>
                      </a:pPr>
                      <a:r>
                        <a:rPr lang="en-US" sz="2000" kern="100" dirty="0">
                          <a:latin typeface="Arial" panose="020B0604020202020204" pitchFamily="34" charset="0"/>
                          <a:ea typeface="Aptos" panose="020B0004020202020204" pitchFamily="34" charset="0"/>
                          <a:cs typeface="Arial" panose="020B0604020202020204" pitchFamily="34" charset="0"/>
                        </a:rPr>
                        <a:t>Business Scenario</a:t>
                      </a:r>
                      <a:endParaRPr lang="en-US" sz="1600" kern="100" dirty="0">
                        <a:latin typeface="Arial" panose="020B0604020202020204" pitchFamily="34" charset="0"/>
                        <a:ea typeface="Aptos" panose="020B0004020202020204" pitchFamily="34" charset="0"/>
                        <a:cs typeface="Arial" panose="020B0604020202020204" pitchFamily="34" charset="0"/>
                      </a:endParaRPr>
                    </a:p>
                  </a:txBody>
                  <a:tcPr>
                    <a:solidFill>
                      <a:srgbClr val="002060"/>
                    </a:solidFill>
                  </a:tcPr>
                </a:tc>
                <a:extLst>
                  <a:ext uri="{0D108BD9-81ED-4DB2-BD59-A6C34878D82A}">
                    <a16:rowId xmlns:a16="http://schemas.microsoft.com/office/drawing/2014/main" val="4072692"/>
                  </a:ext>
                </a:extLst>
              </a:tr>
              <a:tr h="370840">
                <a:tc>
                  <a:txBody>
                    <a:bodyPr/>
                    <a:lstStyle/>
                    <a:p>
                      <a:pPr algn="just">
                        <a:lnSpc>
                          <a:spcPct val="115000"/>
                        </a:lnSpc>
                        <a:spcAft>
                          <a:spcPts val="800"/>
                        </a:spcAft>
                        <a:buNone/>
                      </a:pPr>
                      <a:endParaRPr lang="en-US" kern="100" dirty="0">
                        <a:effectLst/>
                        <a:latin typeface="Arial" panose="020B0604020202020204" pitchFamily="34" charset="0"/>
                        <a:ea typeface="Aptos" panose="020B0004020202020204" pitchFamily="34" charset="0"/>
                        <a:cs typeface="Latha" panose="020B0604020202020204" pitchFamily="34" charset="0"/>
                      </a:endParaRPr>
                    </a:p>
                    <a:p>
                      <a:pPr algn="just"/>
                      <a:r>
                        <a:rPr lang="en-US" sz="1800" b="1" kern="1200" dirty="0">
                          <a:solidFill>
                            <a:schemeClr val="dk1"/>
                          </a:solidFill>
                          <a:effectLst/>
                          <a:latin typeface="Arial" panose="020B0604020202020204" pitchFamily="34" charset="0"/>
                          <a:ea typeface="+mn-ea"/>
                          <a:cs typeface="Arial" panose="020B0604020202020204" pitchFamily="34" charset="0"/>
                        </a:rPr>
                        <a:t>DXS Bank</a:t>
                      </a:r>
                      <a:r>
                        <a:rPr lang="en-US" sz="1800" kern="1200" dirty="0">
                          <a:solidFill>
                            <a:schemeClr val="dk1"/>
                          </a:solidFill>
                          <a:effectLst/>
                          <a:latin typeface="Arial" panose="020B0604020202020204" pitchFamily="34" charset="0"/>
                          <a:ea typeface="+mn-ea"/>
                          <a:cs typeface="Arial" panose="020B0604020202020204" pitchFamily="34" charset="0"/>
                        </a:rPr>
                        <a:t> is a growing digital bank providing retail and business banking services, including transfers, cash deposits, digital payments, and remittances. As transaction volumes increase, the bank is receiving more alerts for potentially suspicious activity.  Analysts currently review customer KYC information, transaction history, and regulatory screening data from multiple sources. This process is time-consuming, repetitive, and difficult to scale, resulting in slower reviews, inconsistent risk assessments, and limited management visibility.</a:t>
                      </a:r>
                    </a:p>
                    <a:p>
                      <a:pPr algn="just"/>
                      <a:r>
                        <a:rPr lang="en-US" sz="1800" kern="1200" dirty="0">
                          <a:solidFill>
                            <a:schemeClr val="dk1"/>
                          </a:solidFill>
                          <a:effectLst/>
                          <a:latin typeface="Arial" panose="020B0604020202020204" pitchFamily="34" charset="0"/>
                          <a:ea typeface="+mn-ea"/>
                          <a:cs typeface="Arial" panose="020B0604020202020204" pitchFamily="34" charset="0"/>
                        </a:rPr>
                        <a:t> </a:t>
                      </a:r>
                    </a:p>
                    <a:p>
                      <a:pPr algn="just"/>
                      <a:r>
                        <a:rPr lang="en-US" sz="1800" b="0" kern="1200" dirty="0">
                          <a:solidFill>
                            <a:schemeClr val="dk1"/>
                          </a:solidFill>
                          <a:effectLst/>
                          <a:latin typeface="Arial" panose="020B0604020202020204" pitchFamily="34" charset="0"/>
                          <a:ea typeface="+mn-ea"/>
                          <a:cs typeface="Arial" panose="020B0604020202020204" pitchFamily="34" charset="0"/>
                        </a:rPr>
                        <a:t>DXS Bank has engaged your group as FinTech Consultants specializing in AI Automation to design and demonstrate an Agentic AI solution that improves the efficiency, consistency, and transparency of the transaction-risk review process while maintaining appropriate human oversight.</a:t>
                      </a:r>
                    </a:p>
                    <a:p>
                      <a:pPr algn="just"/>
                      <a:endParaRPr lang="en-US" kern="100" dirty="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spTree>
    <p:extLst>
      <p:ext uri="{BB962C8B-B14F-4D97-AF65-F5344CB8AC3E}">
        <p14:creationId xmlns:p14="http://schemas.microsoft.com/office/powerpoint/2010/main" val="103730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7313F-77A6-0860-8E5F-744B809AB4DC}"/>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9AA35DD-B6D2-DAF7-1F0E-3341FE0D5CD0}"/>
              </a:ext>
            </a:extLst>
          </p:cNvPr>
          <p:cNvGraphicFramePr>
            <a:graphicFrameLocks noGrp="1"/>
          </p:cNvGraphicFramePr>
          <p:nvPr>
            <p:extLst>
              <p:ext uri="{D42A27DB-BD31-4B8C-83A1-F6EECF244321}">
                <p14:modId xmlns:p14="http://schemas.microsoft.com/office/powerpoint/2010/main" val="1069632314"/>
              </p:ext>
            </p:extLst>
          </p:nvPr>
        </p:nvGraphicFramePr>
        <p:xfrm>
          <a:off x="558801" y="454502"/>
          <a:ext cx="10879666" cy="4355275"/>
        </p:xfrm>
        <a:graphic>
          <a:graphicData uri="http://schemas.openxmlformats.org/drawingml/2006/table">
            <a:tbl>
              <a:tblPr firstRow="1" bandRow="1">
                <a:tableStyleId>{5C22544A-7EE6-4342-B048-85BDC9FD1C3A}</a:tableStyleId>
              </a:tblPr>
              <a:tblGrid>
                <a:gridCol w="10879666">
                  <a:extLst>
                    <a:ext uri="{9D8B030D-6E8A-4147-A177-3AD203B41FA5}">
                      <a16:colId xmlns:a16="http://schemas.microsoft.com/office/drawing/2014/main" val="1614827574"/>
                    </a:ext>
                  </a:extLst>
                </a:gridCol>
              </a:tblGrid>
              <a:tr h="370840">
                <a:tc>
                  <a:txBody>
                    <a:bodyPr/>
                    <a:lstStyle/>
                    <a:p>
                      <a:pPr algn="ctr">
                        <a:lnSpc>
                          <a:spcPct val="115000"/>
                        </a:lnSpc>
                        <a:spcAft>
                          <a:spcPts val="800"/>
                        </a:spcAft>
                        <a:buNone/>
                      </a:pPr>
                      <a:r>
                        <a:rPr lang="en-US" sz="2000" kern="100" dirty="0">
                          <a:latin typeface="Arial" panose="020B0604020202020204" pitchFamily="34" charset="0"/>
                          <a:ea typeface="Aptos" panose="020B0004020202020204" pitchFamily="34" charset="0"/>
                          <a:cs typeface="Arial" panose="020B0604020202020204" pitchFamily="34" charset="0"/>
                        </a:rPr>
                        <a:t>Business Requirements</a:t>
                      </a:r>
                      <a:endParaRPr lang="en-US" sz="1600" kern="100" dirty="0">
                        <a:latin typeface="Arial" panose="020B0604020202020204" pitchFamily="34" charset="0"/>
                        <a:ea typeface="Aptos" panose="020B0004020202020204" pitchFamily="34" charset="0"/>
                        <a:cs typeface="Arial" panose="020B0604020202020204" pitchFamily="34" charset="0"/>
                      </a:endParaRP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r>
                        <a:rPr lang="en-US" sz="1800" kern="1200" dirty="0">
                          <a:solidFill>
                            <a:schemeClr val="dk1"/>
                          </a:solidFill>
                          <a:effectLst/>
                          <a:latin typeface="Arial" panose="020B0604020202020204" pitchFamily="34" charset="0"/>
                          <a:ea typeface="+mn-ea"/>
                          <a:cs typeface="Arial" panose="020B0604020202020204" pitchFamily="34" charset="0"/>
                        </a:rPr>
                        <a:t>DXS Bank requires the proposed solution to:</a:t>
                      </a:r>
                    </a:p>
                    <a:p>
                      <a:pPr marL="342900" lvl="0" indent="-342900" algn="just">
                        <a:lnSpc>
                          <a:spcPct val="115000"/>
                        </a:lnSpc>
                        <a:spcAft>
                          <a:spcPts val="800"/>
                        </a:spcAft>
                        <a:buFont typeface="Symbol" panose="05050102010706020507" pitchFamily="18" charset="2"/>
                        <a:buChar char=""/>
                      </a:pPr>
                      <a:endParaRPr lang="en-US" sz="1800" kern="100" dirty="0">
                        <a:latin typeface="Arial" panose="020B0604020202020204" pitchFamily="34" charset="0"/>
                        <a:ea typeface="Aptos" panose="020B0004020202020204" pitchFamily="34" charset="0"/>
                        <a:cs typeface="Arial" panose="020B0604020202020204" pitchFamily="34" charset="0"/>
                      </a:endParaRPr>
                    </a:p>
                    <a:p>
                      <a:pPr marL="285750" lvl="0" indent="-285750">
                        <a:buFont typeface="Arial" panose="020B0604020202020204" pitchFamily="34" charset="0"/>
                        <a:buChar char="•"/>
                      </a:pPr>
                      <a:r>
                        <a:rPr lang="en-US" sz="1800" kern="1200" dirty="0">
                          <a:solidFill>
                            <a:schemeClr val="dk1"/>
                          </a:solidFill>
                          <a:effectLst/>
                          <a:latin typeface="Arial" panose="020B0604020202020204" pitchFamily="34" charset="0"/>
                          <a:ea typeface="+mn-ea"/>
                          <a:cs typeface="Arial" panose="020B0604020202020204" pitchFamily="34" charset="0"/>
                        </a:rPr>
                        <a:t>Collect customer, transaction, cash deposit, and regulatory screening data together with risk rules.</a:t>
                      </a:r>
                    </a:p>
                    <a:p>
                      <a:pPr marL="285750" lvl="0" indent="-285750">
                        <a:buFont typeface="Arial" panose="020B0604020202020204" pitchFamily="34" charset="0"/>
                        <a:buChar char="•"/>
                      </a:pPr>
                      <a:endParaRPr lang="en-US" sz="1800" kern="1200" dirty="0">
                        <a:solidFill>
                          <a:schemeClr val="dk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US" sz="1800" kern="1200" dirty="0">
                          <a:solidFill>
                            <a:schemeClr val="dk1"/>
                          </a:solidFill>
                          <a:effectLst/>
                          <a:latin typeface="Arial" panose="020B0604020202020204" pitchFamily="34" charset="0"/>
                          <a:ea typeface="+mn-ea"/>
                          <a:cs typeface="Arial" panose="020B0604020202020204" pitchFamily="34" charset="0"/>
                        </a:rPr>
                        <a:t>Use specialist AI Agents to assess different types of customer risk. </a:t>
                      </a:r>
                    </a:p>
                    <a:p>
                      <a:pPr marL="285750" lvl="0" indent="-285750">
                        <a:buFont typeface="Arial" panose="020B0604020202020204" pitchFamily="34" charset="0"/>
                        <a:buChar char="•"/>
                      </a:pPr>
                      <a:endParaRPr lang="en-US" sz="1800" kern="1200" dirty="0">
                        <a:solidFill>
                          <a:schemeClr val="dk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US" sz="1800" kern="1200" dirty="0">
                          <a:solidFill>
                            <a:schemeClr val="dk1"/>
                          </a:solidFill>
                          <a:effectLst/>
                          <a:latin typeface="Arial" panose="020B0604020202020204" pitchFamily="34" charset="0"/>
                          <a:ea typeface="+mn-ea"/>
                          <a:cs typeface="Arial" panose="020B0604020202020204" pitchFamily="34" charset="0"/>
                        </a:rPr>
                        <a:t>Use an AI Orchestrator to combine the Agent results into one overall risk assessment. </a:t>
                      </a:r>
                    </a:p>
                    <a:p>
                      <a:pPr marL="285750" lvl="0" indent="-285750">
                        <a:buFont typeface="Arial" panose="020B0604020202020204" pitchFamily="34" charset="0"/>
                        <a:buChar char="•"/>
                      </a:pPr>
                      <a:endParaRPr lang="en-US" sz="1800" kern="1200" dirty="0">
                        <a:solidFill>
                          <a:schemeClr val="dk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US" sz="1800" kern="1200" dirty="0">
                          <a:solidFill>
                            <a:schemeClr val="dk1"/>
                          </a:solidFill>
                          <a:effectLst/>
                          <a:latin typeface="Arial" panose="020B0604020202020204" pitchFamily="34" charset="0"/>
                          <a:ea typeface="+mn-ea"/>
                          <a:cs typeface="Arial" panose="020B0604020202020204" pitchFamily="34" charset="0"/>
                        </a:rPr>
                        <a:t>Produce an overall risk level, risk score, key risk indicators, and recommended action. </a:t>
                      </a:r>
                    </a:p>
                    <a:p>
                      <a:pPr marL="285750" lvl="0" indent="-285750">
                        <a:buFont typeface="Arial" panose="020B0604020202020204" pitchFamily="34" charset="0"/>
                        <a:buChar char="•"/>
                      </a:pPr>
                      <a:endParaRPr lang="en-US" sz="1800" kern="1200" dirty="0">
                        <a:solidFill>
                          <a:schemeClr val="dk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US" sz="1800" kern="1200" dirty="0">
                          <a:solidFill>
                            <a:schemeClr val="dk1"/>
                          </a:solidFill>
                          <a:effectLst/>
                          <a:latin typeface="Arial" panose="020B0604020202020204" pitchFamily="34" charset="0"/>
                          <a:ea typeface="+mn-ea"/>
                          <a:cs typeface="Arial" panose="020B0604020202020204" pitchFamily="34" charset="0"/>
                        </a:rPr>
                        <a:t>Generate a consolidated risk report and management dashboard. </a:t>
                      </a:r>
                    </a:p>
                    <a:p>
                      <a:pPr marL="285750" lvl="0" indent="-285750">
                        <a:buFont typeface="Arial" panose="020B0604020202020204" pitchFamily="34" charset="0"/>
                        <a:buChar char="•"/>
                      </a:pPr>
                      <a:endParaRPr lang="en-US" sz="1800" kern="1200" dirty="0">
                        <a:solidFill>
                          <a:schemeClr val="dk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US" sz="1800" kern="1200" dirty="0">
                          <a:solidFill>
                            <a:schemeClr val="dk1"/>
                          </a:solidFill>
                          <a:effectLst/>
                          <a:latin typeface="Arial" panose="020B0604020202020204" pitchFamily="34" charset="0"/>
                          <a:ea typeface="+mn-ea"/>
                          <a:cs typeface="Arial" panose="020B0604020202020204" pitchFamily="34" charset="0"/>
                        </a:rPr>
                        <a:t>Keep higher-risk cases for human review and final decision-making</a:t>
                      </a:r>
                      <a:r>
                        <a:rPr lang="en-US" dirty="0"/>
                        <a:t>.</a:t>
                      </a:r>
                    </a:p>
                  </a:txBody>
                  <a:tcPr>
                    <a:solidFill>
                      <a:schemeClr val="bg1"/>
                    </a:solidFill>
                  </a:tcPr>
                </a:tc>
                <a:extLst>
                  <a:ext uri="{0D108BD9-81ED-4DB2-BD59-A6C34878D82A}">
                    <a16:rowId xmlns:a16="http://schemas.microsoft.com/office/drawing/2014/main" val="5763325"/>
                  </a:ext>
                </a:extLst>
              </a:tr>
            </a:tbl>
          </a:graphicData>
        </a:graphic>
      </p:graphicFrame>
    </p:spTree>
    <p:extLst>
      <p:ext uri="{BB962C8B-B14F-4D97-AF65-F5344CB8AC3E}">
        <p14:creationId xmlns:p14="http://schemas.microsoft.com/office/powerpoint/2010/main" val="3867997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EC664-AE61-9210-C522-D5698DB83852}"/>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2901EA3-51C8-EB0A-1765-3BA79E0FD2A0}"/>
              </a:ext>
            </a:extLst>
          </p:cNvPr>
          <p:cNvGraphicFramePr>
            <a:graphicFrameLocks noGrp="1"/>
          </p:cNvGraphicFramePr>
          <p:nvPr>
            <p:extLst>
              <p:ext uri="{D42A27DB-BD31-4B8C-83A1-F6EECF244321}">
                <p14:modId xmlns:p14="http://schemas.microsoft.com/office/powerpoint/2010/main" val="4008067584"/>
              </p:ext>
            </p:extLst>
          </p:nvPr>
        </p:nvGraphicFramePr>
        <p:xfrm>
          <a:off x="372533" y="110536"/>
          <a:ext cx="11531600" cy="776351"/>
        </p:xfrm>
        <a:graphic>
          <a:graphicData uri="http://schemas.openxmlformats.org/drawingml/2006/table">
            <a:tbl>
              <a:tblPr firstRow="1" bandRow="1">
                <a:tableStyleId>{5C22544A-7EE6-4342-B048-85BDC9FD1C3A}</a:tableStyleId>
              </a:tblPr>
              <a:tblGrid>
                <a:gridCol w="11531600">
                  <a:extLst>
                    <a:ext uri="{9D8B030D-6E8A-4147-A177-3AD203B41FA5}">
                      <a16:colId xmlns:a16="http://schemas.microsoft.com/office/drawing/2014/main" val="1614827574"/>
                    </a:ext>
                  </a:extLst>
                </a:gridCol>
              </a:tblGrid>
              <a:tr h="370840">
                <a:tc>
                  <a:txBody>
                    <a:bodyPr/>
                    <a:lstStyle/>
                    <a:p>
                      <a:pPr algn="ctr"/>
                      <a:r>
                        <a:rPr lang="en-US" sz="2000" b="1" kern="100" dirty="0">
                          <a:solidFill>
                            <a:schemeClr val="lt1"/>
                          </a:solidFill>
                          <a:latin typeface="Arial" panose="020B0604020202020204" pitchFamily="34" charset="0"/>
                          <a:cs typeface="Arial" panose="020B0604020202020204" pitchFamily="34" charset="0"/>
                        </a:rPr>
                        <a:t>Logical Design</a:t>
                      </a: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US" sz="18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pic>
        <p:nvPicPr>
          <p:cNvPr id="4" name="Picture 3">
            <a:extLst>
              <a:ext uri="{FF2B5EF4-FFF2-40B4-BE49-F238E27FC236}">
                <a16:creationId xmlns:a16="http://schemas.microsoft.com/office/drawing/2014/main" id="{43C06E33-B05D-3FE4-F163-90E416453AE2}"/>
              </a:ext>
            </a:extLst>
          </p:cNvPr>
          <p:cNvPicPr>
            <a:picLocks noChangeAspect="1"/>
          </p:cNvPicPr>
          <p:nvPr/>
        </p:nvPicPr>
        <p:blipFill>
          <a:blip r:embed="rId3"/>
          <a:stretch>
            <a:fillRect/>
          </a:stretch>
        </p:blipFill>
        <p:spPr>
          <a:xfrm>
            <a:off x="287867" y="570450"/>
            <a:ext cx="11654786" cy="5271550"/>
          </a:xfrm>
          <a:prstGeom prst="rect">
            <a:avLst/>
          </a:prstGeom>
        </p:spPr>
      </p:pic>
    </p:spTree>
    <p:extLst>
      <p:ext uri="{BB962C8B-B14F-4D97-AF65-F5344CB8AC3E}">
        <p14:creationId xmlns:p14="http://schemas.microsoft.com/office/powerpoint/2010/main" val="3150098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045EB-DABB-3B18-1F50-4AAD1B6E850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8FEF970-279E-8A80-9CDD-AA5E190DDE38}"/>
              </a:ext>
            </a:extLst>
          </p:cNvPr>
          <p:cNvPicPr>
            <a:picLocks noChangeAspect="1"/>
          </p:cNvPicPr>
          <p:nvPr/>
        </p:nvPicPr>
        <p:blipFill>
          <a:blip r:embed="rId3"/>
          <a:stretch>
            <a:fillRect/>
          </a:stretch>
        </p:blipFill>
        <p:spPr>
          <a:xfrm>
            <a:off x="98157" y="76048"/>
            <a:ext cx="11884293" cy="6771199"/>
          </a:xfrm>
          <a:prstGeom prst="rect">
            <a:avLst/>
          </a:prstGeom>
        </p:spPr>
      </p:pic>
    </p:spTree>
    <p:extLst>
      <p:ext uri="{BB962C8B-B14F-4D97-AF65-F5344CB8AC3E}">
        <p14:creationId xmlns:p14="http://schemas.microsoft.com/office/powerpoint/2010/main" val="3376674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63562-A98B-700F-40EE-5F14448E152F}"/>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1B80C9D-950B-E4A5-C113-33B56A4B6840}"/>
              </a:ext>
            </a:extLst>
          </p:cNvPr>
          <p:cNvGraphicFramePr>
            <a:graphicFrameLocks noGrp="1"/>
          </p:cNvGraphicFramePr>
          <p:nvPr>
            <p:extLst>
              <p:ext uri="{D42A27DB-BD31-4B8C-83A1-F6EECF244321}">
                <p14:modId xmlns:p14="http://schemas.microsoft.com/office/powerpoint/2010/main" val="3488560456"/>
              </p:ext>
            </p:extLst>
          </p:nvPr>
        </p:nvGraphicFramePr>
        <p:xfrm>
          <a:off x="319500" y="79118"/>
          <a:ext cx="11656583" cy="776351"/>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000" b="1" kern="100" dirty="0">
                          <a:solidFill>
                            <a:schemeClr val="lt1"/>
                          </a:solidFill>
                          <a:latin typeface="Arial" panose="020B0604020202020204" pitchFamily="34" charset="0"/>
                          <a:ea typeface="+mn-ea"/>
                          <a:cs typeface="Arial" panose="020B0604020202020204" pitchFamily="34" charset="0"/>
                        </a:rPr>
                        <a:t>Stages of Agentic AI Risk Assessment Workflow Orchestration</a:t>
                      </a: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US" sz="18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pic>
        <p:nvPicPr>
          <p:cNvPr id="4" name="Picture 3">
            <a:extLst>
              <a:ext uri="{FF2B5EF4-FFF2-40B4-BE49-F238E27FC236}">
                <a16:creationId xmlns:a16="http://schemas.microsoft.com/office/drawing/2014/main" id="{CB75E6B7-C7AF-44CA-B40D-D2859ECD54E9}"/>
              </a:ext>
            </a:extLst>
          </p:cNvPr>
          <p:cNvPicPr>
            <a:picLocks noChangeAspect="1"/>
          </p:cNvPicPr>
          <p:nvPr/>
        </p:nvPicPr>
        <p:blipFill>
          <a:blip r:embed="rId3"/>
          <a:stretch>
            <a:fillRect/>
          </a:stretch>
        </p:blipFill>
        <p:spPr>
          <a:xfrm>
            <a:off x="319499" y="669394"/>
            <a:ext cx="11656583" cy="5459251"/>
          </a:xfrm>
          <a:prstGeom prst="rect">
            <a:avLst/>
          </a:prstGeom>
        </p:spPr>
      </p:pic>
    </p:spTree>
    <p:extLst>
      <p:ext uri="{BB962C8B-B14F-4D97-AF65-F5344CB8AC3E}">
        <p14:creationId xmlns:p14="http://schemas.microsoft.com/office/powerpoint/2010/main" val="4242388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AFC2D-9CD3-86CF-27E8-943C18CDE04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E072674-F0D3-476B-9D26-618C6B5D76DE}"/>
              </a:ext>
            </a:extLst>
          </p:cNvPr>
          <p:cNvPicPr>
            <a:picLocks noChangeAspect="1"/>
          </p:cNvPicPr>
          <p:nvPr/>
        </p:nvPicPr>
        <p:blipFill>
          <a:blip r:embed="rId3"/>
          <a:stretch>
            <a:fillRect/>
          </a:stretch>
        </p:blipFill>
        <p:spPr>
          <a:xfrm>
            <a:off x="378769" y="1266142"/>
            <a:ext cx="11434462" cy="5489805"/>
          </a:xfrm>
          <a:prstGeom prst="rect">
            <a:avLst/>
          </a:prstGeom>
        </p:spPr>
      </p:pic>
      <p:graphicFrame>
        <p:nvGraphicFramePr>
          <p:cNvPr id="3" name="Table 2">
            <a:extLst>
              <a:ext uri="{FF2B5EF4-FFF2-40B4-BE49-F238E27FC236}">
                <a16:creationId xmlns:a16="http://schemas.microsoft.com/office/drawing/2014/main" id="{231C0283-175C-5E91-3402-A6F54854401A}"/>
              </a:ext>
            </a:extLst>
          </p:cNvPr>
          <p:cNvGraphicFramePr>
            <a:graphicFrameLocks noGrp="1"/>
          </p:cNvGraphicFramePr>
          <p:nvPr>
            <p:extLst>
              <p:ext uri="{D42A27DB-BD31-4B8C-83A1-F6EECF244321}">
                <p14:modId xmlns:p14="http://schemas.microsoft.com/office/powerpoint/2010/main" val="701317079"/>
              </p:ext>
            </p:extLst>
          </p:nvPr>
        </p:nvGraphicFramePr>
        <p:xfrm>
          <a:off x="378769" y="79118"/>
          <a:ext cx="11656583" cy="776351"/>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000" b="1" kern="100" dirty="0">
                          <a:solidFill>
                            <a:schemeClr val="lt1"/>
                          </a:solidFill>
                          <a:latin typeface="Arial" panose="020B0604020202020204" pitchFamily="34" charset="0"/>
                          <a:ea typeface="+mn-ea"/>
                          <a:cs typeface="Arial" panose="020B0604020202020204" pitchFamily="34" charset="0"/>
                        </a:rPr>
                        <a:t>Agentic AI Risk Assessment Workflow Orchestration</a:t>
                      </a: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US" sz="18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sp>
        <p:nvSpPr>
          <p:cNvPr id="14" name="Rectangle 13">
            <a:extLst>
              <a:ext uri="{FF2B5EF4-FFF2-40B4-BE49-F238E27FC236}">
                <a16:creationId xmlns:a16="http://schemas.microsoft.com/office/drawing/2014/main" id="{C6B360D2-CA73-F7A7-4D38-4A0DB15F2BB9}"/>
              </a:ext>
            </a:extLst>
          </p:cNvPr>
          <p:cNvSpPr/>
          <p:nvPr/>
        </p:nvSpPr>
        <p:spPr>
          <a:xfrm>
            <a:off x="378769" y="548640"/>
            <a:ext cx="901391" cy="558265"/>
          </a:xfrm>
          <a:prstGeom prst="rect">
            <a:avLst/>
          </a:prstGeom>
          <a:solidFill>
            <a:srgbClr val="FDF6E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141414"/>
                </a:solidFill>
              </a:rPr>
              <a:t>Data Intake</a:t>
            </a:r>
            <a:endParaRPr lang="en-US" sz="1600" b="1" dirty="0">
              <a:solidFill>
                <a:srgbClr val="141414"/>
              </a:solidFill>
            </a:endParaRPr>
          </a:p>
        </p:txBody>
      </p:sp>
      <p:sp>
        <p:nvSpPr>
          <p:cNvPr id="16" name="Rectangle 15">
            <a:extLst>
              <a:ext uri="{FF2B5EF4-FFF2-40B4-BE49-F238E27FC236}">
                <a16:creationId xmlns:a16="http://schemas.microsoft.com/office/drawing/2014/main" id="{12FCC72D-390B-8E2A-CA34-E954D9C58965}"/>
              </a:ext>
            </a:extLst>
          </p:cNvPr>
          <p:cNvSpPr/>
          <p:nvPr/>
        </p:nvSpPr>
        <p:spPr>
          <a:xfrm>
            <a:off x="1858475" y="547034"/>
            <a:ext cx="1172683" cy="558265"/>
          </a:xfrm>
          <a:prstGeom prst="rect">
            <a:avLst/>
          </a:prstGeom>
          <a:solidFill>
            <a:srgbClr val="FDF6E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141414"/>
                </a:solidFill>
              </a:rPr>
              <a:t>Data Extraction</a:t>
            </a:r>
            <a:endParaRPr lang="en-US" sz="1600" b="1" dirty="0">
              <a:solidFill>
                <a:srgbClr val="141414"/>
              </a:solidFill>
            </a:endParaRPr>
          </a:p>
        </p:txBody>
      </p:sp>
      <p:sp>
        <p:nvSpPr>
          <p:cNvPr id="18" name="Rectangle 17">
            <a:extLst>
              <a:ext uri="{FF2B5EF4-FFF2-40B4-BE49-F238E27FC236}">
                <a16:creationId xmlns:a16="http://schemas.microsoft.com/office/drawing/2014/main" id="{95B809B1-C39C-6D2C-42C3-2175073B3D31}"/>
              </a:ext>
            </a:extLst>
          </p:cNvPr>
          <p:cNvSpPr/>
          <p:nvPr/>
        </p:nvSpPr>
        <p:spPr>
          <a:xfrm>
            <a:off x="3095854" y="545428"/>
            <a:ext cx="2022910" cy="558265"/>
          </a:xfrm>
          <a:prstGeom prst="rect">
            <a:avLst/>
          </a:prstGeom>
          <a:solidFill>
            <a:srgbClr val="FDF6E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141414"/>
                </a:solidFill>
              </a:rPr>
              <a:t>Data </a:t>
            </a:r>
          </a:p>
          <a:p>
            <a:pPr algn="ctr"/>
            <a:r>
              <a:rPr lang="en-SG" sz="1600" b="1" dirty="0">
                <a:solidFill>
                  <a:srgbClr val="141414"/>
                </a:solidFill>
              </a:rPr>
              <a:t>Pre-Processing</a:t>
            </a:r>
            <a:endParaRPr lang="en-US" sz="1600" b="1" dirty="0">
              <a:solidFill>
                <a:srgbClr val="141414"/>
              </a:solidFill>
            </a:endParaRPr>
          </a:p>
        </p:txBody>
      </p:sp>
      <p:sp>
        <p:nvSpPr>
          <p:cNvPr id="20" name="Rectangle 19">
            <a:extLst>
              <a:ext uri="{FF2B5EF4-FFF2-40B4-BE49-F238E27FC236}">
                <a16:creationId xmlns:a16="http://schemas.microsoft.com/office/drawing/2014/main" id="{3FB95A28-D9C1-A550-9E94-26AF9F234D3C}"/>
              </a:ext>
            </a:extLst>
          </p:cNvPr>
          <p:cNvSpPr/>
          <p:nvPr/>
        </p:nvSpPr>
        <p:spPr>
          <a:xfrm>
            <a:off x="5260935" y="547030"/>
            <a:ext cx="2090646" cy="558265"/>
          </a:xfrm>
          <a:prstGeom prst="rect">
            <a:avLst/>
          </a:prstGeom>
          <a:solidFill>
            <a:srgbClr val="FDF6E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141414"/>
                </a:solidFill>
              </a:rPr>
              <a:t>AI Agent</a:t>
            </a:r>
          </a:p>
          <a:p>
            <a:pPr algn="ctr"/>
            <a:r>
              <a:rPr lang="en-SG" sz="1600" b="1" dirty="0">
                <a:solidFill>
                  <a:srgbClr val="141414"/>
                </a:solidFill>
              </a:rPr>
              <a:t>Risk Assessment</a:t>
            </a:r>
            <a:endParaRPr lang="en-US" sz="1600" b="1" dirty="0">
              <a:solidFill>
                <a:srgbClr val="141414"/>
              </a:solidFill>
            </a:endParaRPr>
          </a:p>
        </p:txBody>
      </p:sp>
      <p:sp>
        <p:nvSpPr>
          <p:cNvPr id="22" name="Rectangle 21">
            <a:extLst>
              <a:ext uri="{FF2B5EF4-FFF2-40B4-BE49-F238E27FC236}">
                <a16:creationId xmlns:a16="http://schemas.microsoft.com/office/drawing/2014/main" id="{AABA6DBF-E026-2542-CAE3-807F4056B104}"/>
              </a:ext>
            </a:extLst>
          </p:cNvPr>
          <p:cNvSpPr/>
          <p:nvPr/>
        </p:nvSpPr>
        <p:spPr>
          <a:xfrm>
            <a:off x="7458082" y="545426"/>
            <a:ext cx="4355149" cy="558265"/>
          </a:xfrm>
          <a:prstGeom prst="rect">
            <a:avLst/>
          </a:prstGeom>
          <a:solidFill>
            <a:srgbClr val="FDF6E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141414"/>
                </a:solidFill>
              </a:rPr>
              <a:t>Agentic AI</a:t>
            </a:r>
          </a:p>
          <a:p>
            <a:pPr algn="ctr"/>
            <a:r>
              <a:rPr lang="en-SG" sz="1600" b="1" dirty="0">
                <a:solidFill>
                  <a:srgbClr val="141414"/>
                </a:solidFill>
              </a:rPr>
              <a:t>Orchestration and Reporting</a:t>
            </a:r>
            <a:endParaRPr lang="en-US" sz="1600" b="1" dirty="0">
              <a:solidFill>
                <a:srgbClr val="141414"/>
              </a:solidFill>
            </a:endParaRPr>
          </a:p>
        </p:txBody>
      </p:sp>
      <p:sp>
        <p:nvSpPr>
          <p:cNvPr id="2" name="Rectangle 1">
            <a:extLst>
              <a:ext uri="{FF2B5EF4-FFF2-40B4-BE49-F238E27FC236}">
                <a16:creationId xmlns:a16="http://schemas.microsoft.com/office/drawing/2014/main" id="{D6A0E2CB-2665-C31E-B864-712BF0AEC64D}"/>
              </a:ext>
            </a:extLst>
          </p:cNvPr>
          <p:cNvSpPr/>
          <p:nvPr/>
        </p:nvSpPr>
        <p:spPr>
          <a:xfrm>
            <a:off x="378769" y="1269356"/>
            <a:ext cx="901391" cy="54603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CB1B8B6-332E-6B90-CA27-AFE1F4B6AFA1}"/>
              </a:ext>
            </a:extLst>
          </p:cNvPr>
          <p:cNvSpPr/>
          <p:nvPr/>
        </p:nvSpPr>
        <p:spPr>
          <a:xfrm>
            <a:off x="1934679" y="1287004"/>
            <a:ext cx="1074541" cy="54603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3515E90-DEFF-0E27-2925-E05D4BE4B122}"/>
              </a:ext>
            </a:extLst>
          </p:cNvPr>
          <p:cNvSpPr/>
          <p:nvPr/>
        </p:nvSpPr>
        <p:spPr>
          <a:xfrm>
            <a:off x="3115734" y="1267750"/>
            <a:ext cx="2023533" cy="54603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F92B5D5-0A72-D023-8C71-88F767F5E7C7}"/>
              </a:ext>
            </a:extLst>
          </p:cNvPr>
          <p:cNvSpPr/>
          <p:nvPr/>
        </p:nvSpPr>
        <p:spPr>
          <a:xfrm>
            <a:off x="5245768" y="1267750"/>
            <a:ext cx="2105813" cy="54603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9845477-DD5A-2C31-33F3-1F64E77D6580}"/>
              </a:ext>
            </a:extLst>
          </p:cNvPr>
          <p:cNvSpPr/>
          <p:nvPr/>
        </p:nvSpPr>
        <p:spPr>
          <a:xfrm>
            <a:off x="7458082" y="1267752"/>
            <a:ext cx="4355149" cy="54603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8561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8" grpId="0" animBg="1"/>
      <p:bldP spid="20" grpId="0" animBg="1"/>
      <p:bldP spid="22" grpId="0" animBg="1"/>
      <p:bldP spid="2" grpId="0" animBg="1"/>
      <p:bldP spid="5" grpId="0" animBg="1"/>
      <p:bldP spid="7" grpId="0" animBg="1"/>
      <p:bldP spid="9"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3952B-1C93-02FE-F9A6-80F3C762B8A6}"/>
            </a:ext>
          </a:extLst>
        </p:cNvPr>
        <p:cNvGrpSpPr/>
        <p:nvPr/>
      </p:nvGrpSpPr>
      <p:grpSpPr>
        <a:xfrm>
          <a:off x="0" y="0"/>
          <a:ext cx="0" cy="0"/>
          <a:chOff x="0" y="0"/>
          <a:chExt cx="0" cy="0"/>
        </a:xfrm>
      </p:grpSpPr>
      <p:graphicFrame>
        <p:nvGraphicFramePr>
          <p:cNvPr id="100" name="Table 99">
            <a:extLst>
              <a:ext uri="{FF2B5EF4-FFF2-40B4-BE49-F238E27FC236}">
                <a16:creationId xmlns:a16="http://schemas.microsoft.com/office/drawing/2014/main" id="{A2D80240-1C49-868A-0254-8D5E7BB2EC13}"/>
              </a:ext>
            </a:extLst>
          </p:cNvPr>
          <p:cNvGraphicFramePr>
            <a:graphicFrameLocks noGrp="1"/>
          </p:cNvGraphicFramePr>
          <p:nvPr>
            <p:extLst>
              <p:ext uri="{D42A27DB-BD31-4B8C-83A1-F6EECF244321}">
                <p14:modId xmlns:p14="http://schemas.microsoft.com/office/powerpoint/2010/main" val="3914806111"/>
              </p:ext>
            </p:extLst>
          </p:nvPr>
        </p:nvGraphicFramePr>
        <p:xfrm>
          <a:off x="366525" y="106239"/>
          <a:ext cx="11656583" cy="776351"/>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000" dirty="0"/>
                        <a:t>Agentic AI Risk Assessment Workflow  (Tasks 1–7)</a:t>
                      </a:r>
                      <a:endParaRPr lang="en-US" sz="2000" b="1" kern="100" dirty="0">
                        <a:solidFill>
                          <a:schemeClr val="lt1"/>
                        </a:solidFill>
                        <a:latin typeface="Arial" panose="020B0604020202020204" pitchFamily="34" charset="0"/>
                        <a:ea typeface="+mn-ea"/>
                        <a:cs typeface="Arial" panose="020B0604020202020204" pitchFamily="34" charset="0"/>
                      </a:endParaRP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SG" sz="18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pic>
        <p:nvPicPr>
          <p:cNvPr id="104" name="Picture 103">
            <a:extLst>
              <a:ext uri="{FF2B5EF4-FFF2-40B4-BE49-F238E27FC236}">
                <a16:creationId xmlns:a16="http://schemas.microsoft.com/office/drawing/2014/main" id="{DD6CD3AC-D0C2-221A-3974-5417B2A5FF1E}"/>
              </a:ext>
            </a:extLst>
          </p:cNvPr>
          <p:cNvPicPr>
            <a:picLocks noChangeAspect="1"/>
          </p:cNvPicPr>
          <p:nvPr/>
        </p:nvPicPr>
        <p:blipFill>
          <a:blip r:embed="rId3"/>
          <a:stretch>
            <a:fillRect/>
          </a:stretch>
        </p:blipFill>
        <p:spPr>
          <a:xfrm>
            <a:off x="366525" y="1313845"/>
            <a:ext cx="11656583" cy="5439739"/>
          </a:xfrm>
          <a:prstGeom prst="rect">
            <a:avLst/>
          </a:prstGeom>
        </p:spPr>
      </p:pic>
      <p:sp>
        <p:nvSpPr>
          <p:cNvPr id="107" name="Speech Bubble: Rectangle 106">
            <a:extLst>
              <a:ext uri="{FF2B5EF4-FFF2-40B4-BE49-F238E27FC236}">
                <a16:creationId xmlns:a16="http://schemas.microsoft.com/office/drawing/2014/main" id="{2E2631F2-97F1-5000-0886-7FA353C2FF17}"/>
              </a:ext>
            </a:extLst>
          </p:cNvPr>
          <p:cNvSpPr/>
          <p:nvPr/>
        </p:nvSpPr>
        <p:spPr>
          <a:xfrm>
            <a:off x="470632" y="4831885"/>
            <a:ext cx="1155031" cy="712270"/>
          </a:xfrm>
          <a:prstGeom prst="wedgeRectCallout">
            <a:avLst>
              <a:gd name="adj1" fmla="val -31667"/>
              <a:gd name="adj2" fmla="val -107770"/>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Configure the Agent-1 file upload form</a:t>
            </a:r>
          </a:p>
        </p:txBody>
      </p:sp>
      <p:sp>
        <p:nvSpPr>
          <p:cNvPr id="109" name="Speech Bubble: Rectangle 108">
            <a:extLst>
              <a:ext uri="{FF2B5EF4-FFF2-40B4-BE49-F238E27FC236}">
                <a16:creationId xmlns:a16="http://schemas.microsoft.com/office/drawing/2014/main" id="{87206195-660B-2AAA-BD70-414094E96402}"/>
              </a:ext>
            </a:extLst>
          </p:cNvPr>
          <p:cNvSpPr/>
          <p:nvPr/>
        </p:nvSpPr>
        <p:spPr>
          <a:xfrm>
            <a:off x="470632" y="1703185"/>
            <a:ext cx="1155031" cy="510626"/>
          </a:xfrm>
          <a:prstGeom prst="wedgeRectCallout">
            <a:avLst>
              <a:gd name="adj1" fmla="val 92500"/>
              <a:gd name="adj2" fmla="val 9513"/>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141414"/>
                </a:solidFill>
              </a:rPr>
              <a:t>Extract the required data</a:t>
            </a:r>
          </a:p>
        </p:txBody>
      </p:sp>
      <p:sp>
        <p:nvSpPr>
          <p:cNvPr id="111" name="Speech Bubble: Rectangle 110">
            <a:extLst>
              <a:ext uri="{FF2B5EF4-FFF2-40B4-BE49-F238E27FC236}">
                <a16:creationId xmlns:a16="http://schemas.microsoft.com/office/drawing/2014/main" id="{47553E4C-E1BA-DC58-089D-C1D4FBA1561D}"/>
              </a:ext>
            </a:extLst>
          </p:cNvPr>
          <p:cNvSpPr/>
          <p:nvPr/>
        </p:nvSpPr>
        <p:spPr>
          <a:xfrm>
            <a:off x="3378465" y="658562"/>
            <a:ext cx="1857678" cy="536083"/>
          </a:xfrm>
          <a:prstGeom prst="wedgeRectCallout">
            <a:avLst>
              <a:gd name="adj1" fmla="val 21788"/>
              <a:gd name="adj2" fmla="val 76382"/>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Merge and  pre-process customer, transaction, and rule data</a:t>
            </a:r>
          </a:p>
        </p:txBody>
      </p:sp>
      <p:sp>
        <p:nvSpPr>
          <p:cNvPr id="113" name="Speech Bubble: Rectangle 112">
            <a:extLst>
              <a:ext uri="{FF2B5EF4-FFF2-40B4-BE49-F238E27FC236}">
                <a16:creationId xmlns:a16="http://schemas.microsoft.com/office/drawing/2014/main" id="{6A001011-783A-3B24-342F-40D7E8C066FB}"/>
              </a:ext>
            </a:extLst>
          </p:cNvPr>
          <p:cNvSpPr/>
          <p:nvPr/>
        </p:nvSpPr>
        <p:spPr>
          <a:xfrm>
            <a:off x="5686923" y="658561"/>
            <a:ext cx="1984411" cy="536083"/>
          </a:xfrm>
          <a:prstGeom prst="wedgeRectCallout">
            <a:avLst>
              <a:gd name="adj1" fmla="val 21788"/>
              <a:gd name="adj2" fmla="val 76382"/>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Configure </a:t>
            </a:r>
          </a:p>
          <a:p>
            <a:pPr algn="ctr"/>
            <a:r>
              <a:rPr lang="en-US" sz="1200" b="1" dirty="0">
                <a:solidFill>
                  <a:schemeClr val="tx1"/>
                </a:solidFill>
              </a:rPr>
              <a:t>Agent-1 – Customer Profile Risk Assessment</a:t>
            </a:r>
          </a:p>
        </p:txBody>
      </p:sp>
      <p:sp>
        <p:nvSpPr>
          <p:cNvPr id="115" name="Speech Bubble: Rectangle 114">
            <a:extLst>
              <a:ext uri="{FF2B5EF4-FFF2-40B4-BE49-F238E27FC236}">
                <a16:creationId xmlns:a16="http://schemas.microsoft.com/office/drawing/2014/main" id="{BA7BB599-6DD2-E382-27F9-7BC27010F1F8}"/>
              </a:ext>
            </a:extLst>
          </p:cNvPr>
          <p:cNvSpPr/>
          <p:nvPr/>
        </p:nvSpPr>
        <p:spPr>
          <a:xfrm>
            <a:off x="3432221" y="3160959"/>
            <a:ext cx="2400692" cy="390764"/>
          </a:xfrm>
          <a:prstGeom prst="wedgeRectCallout">
            <a:avLst>
              <a:gd name="adj1" fmla="val 19598"/>
              <a:gd name="adj2" fmla="val 76382"/>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Configure Agent-2 – Transaction Pattern Risk Assessment</a:t>
            </a:r>
          </a:p>
        </p:txBody>
      </p:sp>
      <p:sp>
        <p:nvSpPr>
          <p:cNvPr id="119" name="Speech Bubble: Rectangle 118">
            <a:extLst>
              <a:ext uri="{FF2B5EF4-FFF2-40B4-BE49-F238E27FC236}">
                <a16:creationId xmlns:a16="http://schemas.microsoft.com/office/drawing/2014/main" id="{B2C687AA-F620-2F5A-3D7F-FBC81C91A376}"/>
              </a:ext>
            </a:extLst>
          </p:cNvPr>
          <p:cNvSpPr/>
          <p:nvPr/>
        </p:nvSpPr>
        <p:spPr>
          <a:xfrm>
            <a:off x="3432221" y="5168771"/>
            <a:ext cx="2400692" cy="390764"/>
          </a:xfrm>
          <a:prstGeom prst="wedgeRectCallout">
            <a:avLst>
              <a:gd name="adj1" fmla="val 19598"/>
              <a:gd name="adj2" fmla="val 76382"/>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Configure Agent-3 – Regulatory Screening Risk Assessment</a:t>
            </a:r>
          </a:p>
        </p:txBody>
      </p:sp>
      <p:sp>
        <p:nvSpPr>
          <p:cNvPr id="121" name="Speech Bubble: Rectangle 120">
            <a:extLst>
              <a:ext uri="{FF2B5EF4-FFF2-40B4-BE49-F238E27FC236}">
                <a16:creationId xmlns:a16="http://schemas.microsoft.com/office/drawing/2014/main" id="{96680493-E8E5-CED0-65E1-5E3056BC6421}"/>
              </a:ext>
            </a:extLst>
          </p:cNvPr>
          <p:cNvSpPr/>
          <p:nvPr/>
        </p:nvSpPr>
        <p:spPr>
          <a:xfrm>
            <a:off x="8435753" y="2213811"/>
            <a:ext cx="2864305" cy="567408"/>
          </a:xfrm>
          <a:prstGeom prst="wedgeRectCallout">
            <a:avLst>
              <a:gd name="adj1" fmla="val -36857"/>
              <a:gd name="adj2" fmla="val 139981"/>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Configure the Agentic AI Orchestrator and generate the consolidated risk output and dashboard</a:t>
            </a:r>
          </a:p>
        </p:txBody>
      </p:sp>
    </p:spTree>
    <p:extLst>
      <p:ext uri="{BB962C8B-B14F-4D97-AF65-F5344CB8AC3E}">
        <p14:creationId xmlns:p14="http://schemas.microsoft.com/office/powerpoint/2010/main" val="1909632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3A415-D50C-4703-09E2-181F09243E24}"/>
            </a:ext>
          </a:extLst>
        </p:cNvPr>
        <p:cNvGrpSpPr/>
        <p:nvPr/>
      </p:nvGrpSpPr>
      <p:grpSpPr>
        <a:xfrm>
          <a:off x="0" y="0"/>
          <a:ext cx="0" cy="0"/>
          <a:chOff x="0" y="0"/>
          <a:chExt cx="0" cy="0"/>
        </a:xfrm>
      </p:grpSpPr>
      <p:graphicFrame>
        <p:nvGraphicFramePr>
          <p:cNvPr id="100" name="Table 99">
            <a:extLst>
              <a:ext uri="{FF2B5EF4-FFF2-40B4-BE49-F238E27FC236}">
                <a16:creationId xmlns:a16="http://schemas.microsoft.com/office/drawing/2014/main" id="{0ED9AEF7-18C7-D505-C418-4C49473F0729}"/>
              </a:ext>
            </a:extLst>
          </p:cNvPr>
          <p:cNvGraphicFramePr>
            <a:graphicFrameLocks noGrp="1"/>
          </p:cNvGraphicFramePr>
          <p:nvPr>
            <p:extLst>
              <p:ext uri="{D42A27DB-BD31-4B8C-83A1-F6EECF244321}">
                <p14:modId xmlns:p14="http://schemas.microsoft.com/office/powerpoint/2010/main" val="3437319707"/>
              </p:ext>
            </p:extLst>
          </p:nvPr>
        </p:nvGraphicFramePr>
        <p:xfrm>
          <a:off x="366525" y="106239"/>
          <a:ext cx="11656583" cy="776351"/>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000" b="1" kern="100" dirty="0">
                          <a:solidFill>
                            <a:schemeClr val="lt1"/>
                          </a:solidFill>
                          <a:latin typeface="Arial" panose="020B0604020202020204" pitchFamily="34" charset="0"/>
                          <a:ea typeface="+mn-ea"/>
                          <a:cs typeface="Arial" panose="020B0604020202020204" pitchFamily="34" charset="0"/>
                        </a:rPr>
                        <a:t>Lab 1 – Create Agent-1</a:t>
                      </a: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SG" sz="18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pic>
        <p:nvPicPr>
          <p:cNvPr id="104" name="Picture 103">
            <a:extLst>
              <a:ext uri="{FF2B5EF4-FFF2-40B4-BE49-F238E27FC236}">
                <a16:creationId xmlns:a16="http://schemas.microsoft.com/office/drawing/2014/main" id="{3156B159-352A-0E26-8259-07D2B159945D}"/>
              </a:ext>
            </a:extLst>
          </p:cNvPr>
          <p:cNvPicPr>
            <a:picLocks noChangeAspect="1"/>
          </p:cNvPicPr>
          <p:nvPr/>
        </p:nvPicPr>
        <p:blipFill>
          <a:blip r:embed="rId3"/>
          <a:stretch>
            <a:fillRect/>
          </a:stretch>
        </p:blipFill>
        <p:spPr>
          <a:xfrm>
            <a:off x="366525" y="1313845"/>
            <a:ext cx="11656583" cy="5439739"/>
          </a:xfrm>
          <a:prstGeom prst="rect">
            <a:avLst/>
          </a:prstGeom>
        </p:spPr>
      </p:pic>
      <p:sp>
        <p:nvSpPr>
          <p:cNvPr id="107" name="Speech Bubble: Rectangle 106">
            <a:extLst>
              <a:ext uri="{FF2B5EF4-FFF2-40B4-BE49-F238E27FC236}">
                <a16:creationId xmlns:a16="http://schemas.microsoft.com/office/drawing/2014/main" id="{6ED6FF9A-B22B-2FA1-1C86-B55DEDB9C7FD}"/>
              </a:ext>
            </a:extLst>
          </p:cNvPr>
          <p:cNvSpPr/>
          <p:nvPr/>
        </p:nvSpPr>
        <p:spPr>
          <a:xfrm>
            <a:off x="470632" y="4831885"/>
            <a:ext cx="1155031" cy="712270"/>
          </a:xfrm>
          <a:prstGeom prst="wedgeRectCallout">
            <a:avLst>
              <a:gd name="adj1" fmla="val -31667"/>
              <a:gd name="adj2" fmla="val -107770"/>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Configure the Agent-1 file upload form</a:t>
            </a:r>
          </a:p>
        </p:txBody>
      </p:sp>
      <p:sp>
        <p:nvSpPr>
          <p:cNvPr id="109" name="Speech Bubble: Rectangle 108">
            <a:extLst>
              <a:ext uri="{FF2B5EF4-FFF2-40B4-BE49-F238E27FC236}">
                <a16:creationId xmlns:a16="http://schemas.microsoft.com/office/drawing/2014/main" id="{41A72119-B6DA-248F-229E-B605F3D57522}"/>
              </a:ext>
            </a:extLst>
          </p:cNvPr>
          <p:cNvSpPr/>
          <p:nvPr/>
        </p:nvSpPr>
        <p:spPr>
          <a:xfrm>
            <a:off x="470632" y="1703185"/>
            <a:ext cx="1155031" cy="510626"/>
          </a:xfrm>
          <a:prstGeom prst="wedgeRectCallout">
            <a:avLst>
              <a:gd name="adj1" fmla="val 92500"/>
              <a:gd name="adj2" fmla="val 9513"/>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141414"/>
                </a:solidFill>
              </a:rPr>
              <a:t>Extract the required data</a:t>
            </a:r>
          </a:p>
        </p:txBody>
      </p:sp>
      <p:sp>
        <p:nvSpPr>
          <p:cNvPr id="111" name="Speech Bubble: Rectangle 110">
            <a:extLst>
              <a:ext uri="{FF2B5EF4-FFF2-40B4-BE49-F238E27FC236}">
                <a16:creationId xmlns:a16="http://schemas.microsoft.com/office/drawing/2014/main" id="{0310BA8D-A966-8E11-C664-B8F718ABBF27}"/>
              </a:ext>
            </a:extLst>
          </p:cNvPr>
          <p:cNvSpPr/>
          <p:nvPr/>
        </p:nvSpPr>
        <p:spPr>
          <a:xfrm>
            <a:off x="3378465" y="658562"/>
            <a:ext cx="1857678" cy="536083"/>
          </a:xfrm>
          <a:prstGeom prst="wedgeRectCallout">
            <a:avLst>
              <a:gd name="adj1" fmla="val 21788"/>
              <a:gd name="adj2" fmla="val 76382"/>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Merge and  pre-process customer, transaction, and rule data</a:t>
            </a:r>
          </a:p>
        </p:txBody>
      </p:sp>
      <p:sp>
        <p:nvSpPr>
          <p:cNvPr id="113" name="Speech Bubble: Rectangle 112">
            <a:extLst>
              <a:ext uri="{FF2B5EF4-FFF2-40B4-BE49-F238E27FC236}">
                <a16:creationId xmlns:a16="http://schemas.microsoft.com/office/drawing/2014/main" id="{2F436035-8CB4-BA23-4B59-1463823F192E}"/>
              </a:ext>
            </a:extLst>
          </p:cNvPr>
          <p:cNvSpPr/>
          <p:nvPr/>
        </p:nvSpPr>
        <p:spPr>
          <a:xfrm>
            <a:off x="5686923" y="658561"/>
            <a:ext cx="1984411" cy="536083"/>
          </a:xfrm>
          <a:prstGeom prst="wedgeRectCallout">
            <a:avLst>
              <a:gd name="adj1" fmla="val 21788"/>
              <a:gd name="adj2" fmla="val 76382"/>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Configure </a:t>
            </a:r>
          </a:p>
          <a:p>
            <a:pPr algn="ctr"/>
            <a:r>
              <a:rPr lang="en-US" sz="1200" b="1" dirty="0">
                <a:solidFill>
                  <a:schemeClr val="tx1"/>
                </a:solidFill>
              </a:rPr>
              <a:t>Agent-1 – Customer Profile Risk Assessment</a:t>
            </a:r>
          </a:p>
        </p:txBody>
      </p:sp>
      <p:pic>
        <p:nvPicPr>
          <p:cNvPr id="3" name="Picture 2">
            <a:extLst>
              <a:ext uri="{FF2B5EF4-FFF2-40B4-BE49-F238E27FC236}">
                <a16:creationId xmlns:a16="http://schemas.microsoft.com/office/drawing/2014/main" id="{7E882C71-AD32-967D-4D5F-898D55794746}"/>
              </a:ext>
            </a:extLst>
          </p:cNvPr>
          <p:cNvPicPr>
            <a:picLocks noChangeAspect="1"/>
          </p:cNvPicPr>
          <p:nvPr/>
        </p:nvPicPr>
        <p:blipFill>
          <a:blip r:embed="rId4"/>
          <a:stretch>
            <a:fillRect/>
          </a:stretch>
        </p:blipFill>
        <p:spPr>
          <a:xfrm>
            <a:off x="4591050" y="4281307"/>
            <a:ext cx="645093" cy="669590"/>
          </a:xfrm>
          <a:prstGeom prst="rect">
            <a:avLst/>
          </a:prstGeom>
        </p:spPr>
      </p:pic>
      <p:pic>
        <p:nvPicPr>
          <p:cNvPr id="5" name="Picture 4">
            <a:extLst>
              <a:ext uri="{FF2B5EF4-FFF2-40B4-BE49-F238E27FC236}">
                <a16:creationId xmlns:a16="http://schemas.microsoft.com/office/drawing/2014/main" id="{DD43D16A-CDA9-1B38-0119-A80533702F2E}"/>
              </a:ext>
            </a:extLst>
          </p:cNvPr>
          <p:cNvPicPr>
            <a:picLocks noChangeAspect="1"/>
          </p:cNvPicPr>
          <p:nvPr/>
        </p:nvPicPr>
        <p:blipFill>
          <a:blip r:embed="rId4"/>
          <a:stretch>
            <a:fillRect/>
          </a:stretch>
        </p:blipFill>
        <p:spPr>
          <a:xfrm>
            <a:off x="8153400" y="4347982"/>
            <a:ext cx="645093" cy="669590"/>
          </a:xfrm>
          <a:prstGeom prst="rect">
            <a:avLst/>
          </a:prstGeom>
        </p:spPr>
      </p:pic>
      <p:pic>
        <p:nvPicPr>
          <p:cNvPr id="7" name="Picture 6">
            <a:extLst>
              <a:ext uri="{FF2B5EF4-FFF2-40B4-BE49-F238E27FC236}">
                <a16:creationId xmlns:a16="http://schemas.microsoft.com/office/drawing/2014/main" id="{E294B0F7-C200-0373-9677-A7923D36AC94}"/>
              </a:ext>
            </a:extLst>
          </p:cNvPr>
          <p:cNvPicPr>
            <a:picLocks noChangeAspect="1"/>
          </p:cNvPicPr>
          <p:nvPr/>
        </p:nvPicPr>
        <p:blipFill>
          <a:blip r:embed="rId4"/>
          <a:stretch>
            <a:fillRect/>
          </a:stretch>
        </p:blipFill>
        <p:spPr>
          <a:xfrm>
            <a:off x="4619625" y="5948182"/>
            <a:ext cx="645093" cy="669590"/>
          </a:xfrm>
          <a:prstGeom prst="rect">
            <a:avLst/>
          </a:prstGeom>
        </p:spPr>
      </p:pic>
    </p:spTree>
    <p:extLst>
      <p:ext uri="{BB962C8B-B14F-4D97-AF65-F5344CB8AC3E}">
        <p14:creationId xmlns:p14="http://schemas.microsoft.com/office/powerpoint/2010/main" val="2695919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EEBA8-2545-E04C-B921-24AE649B7488}"/>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FECE5C52-6EA1-DB87-0EAB-4431DF2E936C}"/>
              </a:ext>
            </a:extLst>
          </p:cNvPr>
          <p:cNvPicPr>
            <a:picLocks noChangeAspect="1"/>
          </p:cNvPicPr>
          <p:nvPr/>
        </p:nvPicPr>
        <p:blipFill>
          <a:blip r:embed="rId3"/>
          <a:stretch>
            <a:fillRect/>
          </a:stretch>
        </p:blipFill>
        <p:spPr>
          <a:xfrm>
            <a:off x="378769" y="1260091"/>
            <a:ext cx="11556557" cy="5469589"/>
          </a:xfrm>
          <a:prstGeom prst="rect">
            <a:avLst/>
          </a:prstGeom>
        </p:spPr>
      </p:pic>
      <p:graphicFrame>
        <p:nvGraphicFramePr>
          <p:cNvPr id="100" name="Table 99">
            <a:extLst>
              <a:ext uri="{FF2B5EF4-FFF2-40B4-BE49-F238E27FC236}">
                <a16:creationId xmlns:a16="http://schemas.microsoft.com/office/drawing/2014/main" id="{B18A0555-CA5D-0AE0-250C-53833418D32E}"/>
              </a:ext>
            </a:extLst>
          </p:cNvPr>
          <p:cNvGraphicFramePr>
            <a:graphicFrameLocks noGrp="1"/>
          </p:cNvGraphicFramePr>
          <p:nvPr>
            <p:extLst>
              <p:ext uri="{D42A27DB-BD31-4B8C-83A1-F6EECF244321}">
                <p14:modId xmlns:p14="http://schemas.microsoft.com/office/powerpoint/2010/main" val="2521147968"/>
              </p:ext>
            </p:extLst>
          </p:nvPr>
        </p:nvGraphicFramePr>
        <p:xfrm>
          <a:off x="366525" y="106239"/>
          <a:ext cx="11656583" cy="776351"/>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000" b="1" kern="100" dirty="0">
                          <a:solidFill>
                            <a:schemeClr val="lt1"/>
                          </a:solidFill>
                          <a:latin typeface="Arial" panose="020B0604020202020204" pitchFamily="34" charset="0"/>
                          <a:ea typeface="+mn-ea"/>
                          <a:cs typeface="Arial" panose="020B0604020202020204" pitchFamily="34" charset="0"/>
                        </a:rPr>
                        <a:t>Lab 2 - Create Agent-2 &amp; Agent-3</a:t>
                      </a: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SG" sz="18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pic>
        <p:nvPicPr>
          <p:cNvPr id="9" name="Picture 8">
            <a:extLst>
              <a:ext uri="{FF2B5EF4-FFF2-40B4-BE49-F238E27FC236}">
                <a16:creationId xmlns:a16="http://schemas.microsoft.com/office/drawing/2014/main" id="{95ED453E-AA46-5973-325D-DA1BFF8E9EB8}"/>
              </a:ext>
            </a:extLst>
          </p:cNvPr>
          <p:cNvPicPr>
            <a:picLocks noChangeAspect="1"/>
          </p:cNvPicPr>
          <p:nvPr/>
        </p:nvPicPr>
        <p:blipFill>
          <a:blip r:embed="rId4"/>
          <a:stretch>
            <a:fillRect/>
          </a:stretch>
        </p:blipFill>
        <p:spPr>
          <a:xfrm>
            <a:off x="629184" y="3000358"/>
            <a:ext cx="654084" cy="647733"/>
          </a:xfrm>
          <a:prstGeom prst="rect">
            <a:avLst/>
          </a:prstGeom>
        </p:spPr>
      </p:pic>
      <p:sp>
        <p:nvSpPr>
          <p:cNvPr id="15" name="Speech Bubble: Rectangle 14">
            <a:extLst>
              <a:ext uri="{FF2B5EF4-FFF2-40B4-BE49-F238E27FC236}">
                <a16:creationId xmlns:a16="http://schemas.microsoft.com/office/drawing/2014/main" id="{280AAF8C-A34A-0878-E12E-2ACC1F906623}"/>
              </a:ext>
            </a:extLst>
          </p:cNvPr>
          <p:cNvSpPr/>
          <p:nvPr/>
        </p:nvSpPr>
        <p:spPr>
          <a:xfrm>
            <a:off x="3770889" y="3084756"/>
            <a:ext cx="2400692" cy="390764"/>
          </a:xfrm>
          <a:prstGeom prst="wedgeRectCallout">
            <a:avLst>
              <a:gd name="adj1" fmla="val 35821"/>
              <a:gd name="adj2" fmla="val 102382"/>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Configure Agent-2 – Transaction Pattern Risk Assessment</a:t>
            </a:r>
          </a:p>
        </p:txBody>
      </p:sp>
      <p:sp>
        <p:nvSpPr>
          <p:cNvPr id="17" name="Speech Bubble: Rectangle 16">
            <a:extLst>
              <a:ext uri="{FF2B5EF4-FFF2-40B4-BE49-F238E27FC236}">
                <a16:creationId xmlns:a16="http://schemas.microsoft.com/office/drawing/2014/main" id="{E0237B4D-4771-8038-55D9-48B7DC55A20A}"/>
              </a:ext>
            </a:extLst>
          </p:cNvPr>
          <p:cNvSpPr/>
          <p:nvPr/>
        </p:nvSpPr>
        <p:spPr>
          <a:xfrm>
            <a:off x="3466087" y="5126436"/>
            <a:ext cx="2400692" cy="390764"/>
          </a:xfrm>
          <a:prstGeom prst="wedgeRectCallout">
            <a:avLst>
              <a:gd name="adj1" fmla="val 35116"/>
              <a:gd name="adj2" fmla="val 76382"/>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Configure Agent-3 – Regulatory Screening Risk Assessment</a:t>
            </a:r>
          </a:p>
        </p:txBody>
      </p:sp>
      <p:pic>
        <p:nvPicPr>
          <p:cNvPr id="19" name="Picture 18">
            <a:extLst>
              <a:ext uri="{FF2B5EF4-FFF2-40B4-BE49-F238E27FC236}">
                <a16:creationId xmlns:a16="http://schemas.microsoft.com/office/drawing/2014/main" id="{9F704A44-9656-F7C8-71B4-6AEA463BD173}"/>
              </a:ext>
            </a:extLst>
          </p:cNvPr>
          <p:cNvPicPr>
            <a:picLocks noChangeAspect="1"/>
          </p:cNvPicPr>
          <p:nvPr/>
        </p:nvPicPr>
        <p:blipFill>
          <a:blip r:embed="rId4"/>
          <a:stretch>
            <a:fillRect/>
          </a:stretch>
        </p:blipFill>
        <p:spPr>
          <a:xfrm>
            <a:off x="4635483" y="2352658"/>
            <a:ext cx="654084" cy="647733"/>
          </a:xfrm>
          <a:prstGeom prst="rect">
            <a:avLst/>
          </a:prstGeom>
        </p:spPr>
      </p:pic>
      <p:pic>
        <p:nvPicPr>
          <p:cNvPr id="21" name="Picture 20">
            <a:extLst>
              <a:ext uri="{FF2B5EF4-FFF2-40B4-BE49-F238E27FC236}">
                <a16:creationId xmlns:a16="http://schemas.microsoft.com/office/drawing/2014/main" id="{C33169E5-E41B-CD5B-5673-E370DF07AFF2}"/>
              </a:ext>
            </a:extLst>
          </p:cNvPr>
          <p:cNvPicPr>
            <a:picLocks noChangeAspect="1"/>
          </p:cNvPicPr>
          <p:nvPr/>
        </p:nvPicPr>
        <p:blipFill>
          <a:blip r:embed="rId4"/>
          <a:stretch>
            <a:fillRect/>
          </a:stretch>
        </p:blipFill>
        <p:spPr>
          <a:xfrm>
            <a:off x="6435708" y="2428875"/>
            <a:ext cx="577120" cy="571516"/>
          </a:xfrm>
          <a:prstGeom prst="rect">
            <a:avLst/>
          </a:prstGeom>
        </p:spPr>
      </p:pic>
      <p:sp>
        <p:nvSpPr>
          <p:cNvPr id="24" name="Rectangle 23">
            <a:extLst>
              <a:ext uri="{FF2B5EF4-FFF2-40B4-BE49-F238E27FC236}">
                <a16:creationId xmlns:a16="http://schemas.microsoft.com/office/drawing/2014/main" id="{BA7B2B6A-E757-4DF5-E223-FBC09B95DB2D}"/>
              </a:ext>
            </a:extLst>
          </p:cNvPr>
          <p:cNvSpPr/>
          <p:nvPr/>
        </p:nvSpPr>
        <p:spPr>
          <a:xfrm>
            <a:off x="1676399" y="3000358"/>
            <a:ext cx="5467248" cy="188490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710E0E2-F7FA-C824-9B3A-6AE215E413C1}"/>
              </a:ext>
            </a:extLst>
          </p:cNvPr>
          <p:cNvSpPr/>
          <p:nvPr/>
        </p:nvSpPr>
        <p:spPr>
          <a:xfrm>
            <a:off x="1676399" y="5052501"/>
            <a:ext cx="5477933" cy="165843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81E573CB-D67D-498C-FF23-53EDC604FF54}"/>
              </a:ext>
            </a:extLst>
          </p:cNvPr>
          <p:cNvPicPr>
            <a:picLocks noChangeAspect="1"/>
          </p:cNvPicPr>
          <p:nvPr/>
        </p:nvPicPr>
        <p:blipFill>
          <a:blip r:embed="rId5"/>
          <a:stretch>
            <a:fillRect/>
          </a:stretch>
        </p:blipFill>
        <p:spPr>
          <a:xfrm>
            <a:off x="4665122" y="4334921"/>
            <a:ext cx="508011" cy="508011"/>
          </a:xfrm>
          <a:prstGeom prst="rect">
            <a:avLst/>
          </a:prstGeom>
        </p:spPr>
      </p:pic>
      <p:pic>
        <p:nvPicPr>
          <p:cNvPr id="30" name="Picture 29">
            <a:extLst>
              <a:ext uri="{FF2B5EF4-FFF2-40B4-BE49-F238E27FC236}">
                <a16:creationId xmlns:a16="http://schemas.microsoft.com/office/drawing/2014/main" id="{FE3CDE26-BE4D-85DC-E275-DFEA99D325F2}"/>
              </a:ext>
            </a:extLst>
          </p:cNvPr>
          <p:cNvPicPr>
            <a:picLocks noChangeAspect="1"/>
          </p:cNvPicPr>
          <p:nvPr/>
        </p:nvPicPr>
        <p:blipFill>
          <a:blip r:embed="rId6"/>
          <a:stretch>
            <a:fillRect/>
          </a:stretch>
        </p:blipFill>
        <p:spPr>
          <a:xfrm>
            <a:off x="4635483" y="6096284"/>
            <a:ext cx="537651" cy="529251"/>
          </a:xfrm>
          <a:prstGeom prst="rect">
            <a:avLst/>
          </a:prstGeom>
        </p:spPr>
      </p:pic>
    </p:spTree>
    <p:extLst>
      <p:ext uri="{BB962C8B-B14F-4D97-AF65-F5344CB8AC3E}">
        <p14:creationId xmlns:p14="http://schemas.microsoft.com/office/powerpoint/2010/main" val="3125890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318E8-4B57-1920-D935-D08031A95C9C}"/>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D7DA402F-0E70-4BB6-4208-315CE0050A7C}"/>
              </a:ext>
            </a:extLst>
          </p:cNvPr>
          <p:cNvPicPr>
            <a:picLocks noChangeAspect="1"/>
          </p:cNvPicPr>
          <p:nvPr/>
        </p:nvPicPr>
        <p:blipFill>
          <a:blip r:embed="rId3"/>
          <a:stretch>
            <a:fillRect/>
          </a:stretch>
        </p:blipFill>
        <p:spPr>
          <a:xfrm>
            <a:off x="378769" y="1260091"/>
            <a:ext cx="11556557" cy="5469589"/>
          </a:xfrm>
          <a:prstGeom prst="rect">
            <a:avLst/>
          </a:prstGeom>
        </p:spPr>
      </p:pic>
      <p:graphicFrame>
        <p:nvGraphicFramePr>
          <p:cNvPr id="100" name="Table 99">
            <a:extLst>
              <a:ext uri="{FF2B5EF4-FFF2-40B4-BE49-F238E27FC236}">
                <a16:creationId xmlns:a16="http://schemas.microsoft.com/office/drawing/2014/main" id="{932A234C-CCC9-E3E1-ACF2-9D3857E721E8}"/>
              </a:ext>
            </a:extLst>
          </p:cNvPr>
          <p:cNvGraphicFramePr>
            <a:graphicFrameLocks noGrp="1"/>
          </p:cNvGraphicFramePr>
          <p:nvPr>
            <p:extLst>
              <p:ext uri="{D42A27DB-BD31-4B8C-83A1-F6EECF244321}">
                <p14:modId xmlns:p14="http://schemas.microsoft.com/office/powerpoint/2010/main" val="711792152"/>
              </p:ext>
            </p:extLst>
          </p:nvPr>
        </p:nvGraphicFramePr>
        <p:xfrm>
          <a:off x="366525" y="106239"/>
          <a:ext cx="11656583" cy="776351"/>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000" b="1" kern="100" dirty="0">
                          <a:solidFill>
                            <a:schemeClr val="lt1"/>
                          </a:solidFill>
                          <a:latin typeface="Arial" panose="020B0604020202020204" pitchFamily="34" charset="0"/>
                          <a:ea typeface="+mn-ea"/>
                          <a:cs typeface="Arial" panose="020B0604020202020204" pitchFamily="34" charset="0"/>
                        </a:rPr>
                        <a:t>Lab 3 - Create Agentic AI Orchestrator</a:t>
                      </a: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SG" sz="18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pic>
        <p:nvPicPr>
          <p:cNvPr id="9" name="Picture 8">
            <a:extLst>
              <a:ext uri="{FF2B5EF4-FFF2-40B4-BE49-F238E27FC236}">
                <a16:creationId xmlns:a16="http://schemas.microsoft.com/office/drawing/2014/main" id="{126504E6-9FB9-46C6-0206-A6EC621998A4}"/>
              </a:ext>
            </a:extLst>
          </p:cNvPr>
          <p:cNvPicPr>
            <a:picLocks noChangeAspect="1"/>
          </p:cNvPicPr>
          <p:nvPr/>
        </p:nvPicPr>
        <p:blipFill>
          <a:blip r:embed="rId4"/>
          <a:stretch>
            <a:fillRect/>
          </a:stretch>
        </p:blipFill>
        <p:spPr>
          <a:xfrm>
            <a:off x="629184" y="3000358"/>
            <a:ext cx="654084" cy="647733"/>
          </a:xfrm>
          <a:prstGeom prst="rect">
            <a:avLst/>
          </a:prstGeom>
        </p:spPr>
      </p:pic>
      <p:pic>
        <p:nvPicPr>
          <p:cNvPr id="19" name="Picture 18">
            <a:extLst>
              <a:ext uri="{FF2B5EF4-FFF2-40B4-BE49-F238E27FC236}">
                <a16:creationId xmlns:a16="http://schemas.microsoft.com/office/drawing/2014/main" id="{C28EA65C-BFE3-D070-4281-D01033AF3990}"/>
              </a:ext>
            </a:extLst>
          </p:cNvPr>
          <p:cNvPicPr>
            <a:picLocks noChangeAspect="1"/>
          </p:cNvPicPr>
          <p:nvPr/>
        </p:nvPicPr>
        <p:blipFill>
          <a:blip r:embed="rId4"/>
          <a:stretch>
            <a:fillRect/>
          </a:stretch>
        </p:blipFill>
        <p:spPr>
          <a:xfrm>
            <a:off x="4635483" y="2352658"/>
            <a:ext cx="654084" cy="647733"/>
          </a:xfrm>
          <a:prstGeom prst="rect">
            <a:avLst/>
          </a:prstGeom>
        </p:spPr>
      </p:pic>
      <p:pic>
        <p:nvPicPr>
          <p:cNvPr id="21" name="Picture 20">
            <a:extLst>
              <a:ext uri="{FF2B5EF4-FFF2-40B4-BE49-F238E27FC236}">
                <a16:creationId xmlns:a16="http://schemas.microsoft.com/office/drawing/2014/main" id="{25BAFFEA-2074-EE77-301F-3AA9920081BC}"/>
              </a:ext>
            </a:extLst>
          </p:cNvPr>
          <p:cNvPicPr>
            <a:picLocks noChangeAspect="1"/>
          </p:cNvPicPr>
          <p:nvPr/>
        </p:nvPicPr>
        <p:blipFill>
          <a:blip r:embed="rId4"/>
          <a:stretch>
            <a:fillRect/>
          </a:stretch>
        </p:blipFill>
        <p:spPr>
          <a:xfrm>
            <a:off x="6435708" y="2428875"/>
            <a:ext cx="577120" cy="571516"/>
          </a:xfrm>
          <a:prstGeom prst="rect">
            <a:avLst/>
          </a:prstGeom>
        </p:spPr>
      </p:pic>
      <p:sp>
        <p:nvSpPr>
          <p:cNvPr id="24" name="Rectangle 23">
            <a:extLst>
              <a:ext uri="{FF2B5EF4-FFF2-40B4-BE49-F238E27FC236}">
                <a16:creationId xmlns:a16="http://schemas.microsoft.com/office/drawing/2014/main" id="{594CE1D4-F587-1906-B6EE-EC719343F3D1}"/>
              </a:ext>
            </a:extLst>
          </p:cNvPr>
          <p:cNvSpPr/>
          <p:nvPr/>
        </p:nvSpPr>
        <p:spPr>
          <a:xfrm>
            <a:off x="7981865" y="3286108"/>
            <a:ext cx="3924281" cy="188490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D9CCA58-4A7F-57E5-AA38-5D5D2FB35416}"/>
              </a:ext>
            </a:extLst>
          </p:cNvPr>
          <p:cNvPicPr>
            <a:picLocks noChangeAspect="1"/>
          </p:cNvPicPr>
          <p:nvPr/>
        </p:nvPicPr>
        <p:blipFill>
          <a:blip r:embed="rId5"/>
          <a:stretch>
            <a:fillRect/>
          </a:stretch>
        </p:blipFill>
        <p:spPr>
          <a:xfrm>
            <a:off x="8248786" y="4334922"/>
            <a:ext cx="453525" cy="457212"/>
          </a:xfrm>
          <a:prstGeom prst="rect">
            <a:avLst/>
          </a:prstGeom>
        </p:spPr>
      </p:pic>
      <p:sp>
        <p:nvSpPr>
          <p:cNvPr id="12" name="Speech Bubble: Rectangle 11">
            <a:extLst>
              <a:ext uri="{FF2B5EF4-FFF2-40B4-BE49-F238E27FC236}">
                <a16:creationId xmlns:a16="http://schemas.microsoft.com/office/drawing/2014/main" id="{AB6C8F14-7784-BAE9-8988-C1101DBE9316}"/>
              </a:ext>
            </a:extLst>
          </p:cNvPr>
          <p:cNvSpPr/>
          <p:nvPr/>
        </p:nvSpPr>
        <p:spPr>
          <a:xfrm>
            <a:off x="8435753" y="2213811"/>
            <a:ext cx="2864305" cy="567408"/>
          </a:xfrm>
          <a:prstGeom prst="wedgeRectCallout">
            <a:avLst>
              <a:gd name="adj1" fmla="val 11916"/>
              <a:gd name="adj2" fmla="val 19369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Configure the Agentic AI Orchestrator and generate the consolidated risk output and dashboard</a:t>
            </a:r>
          </a:p>
        </p:txBody>
      </p:sp>
    </p:spTree>
    <p:extLst>
      <p:ext uri="{BB962C8B-B14F-4D97-AF65-F5344CB8AC3E}">
        <p14:creationId xmlns:p14="http://schemas.microsoft.com/office/powerpoint/2010/main" val="4107341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C88B5-7819-E6AF-C61B-4B63494BF47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44C4DFE-C72E-5496-D640-A8FEA2FC3108}"/>
              </a:ext>
            </a:extLst>
          </p:cNvPr>
          <p:cNvPicPr>
            <a:picLocks noChangeAspect="1"/>
          </p:cNvPicPr>
          <p:nvPr/>
        </p:nvPicPr>
        <p:blipFill>
          <a:blip r:embed="rId3"/>
          <a:stretch>
            <a:fillRect/>
          </a:stretch>
        </p:blipFill>
        <p:spPr>
          <a:xfrm>
            <a:off x="98157" y="76048"/>
            <a:ext cx="11884293" cy="6771199"/>
          </a:xfrm>
          <a:prstGeom prst="rect">
            <a:avLst/>
          </a:prstGeom>
        </p:spPr>
      </p:pic>
    </p:spTree>
    <p:extLst>
      <p:ext uri="{BB962C8B-B14F-4D97-AF65-F5344CB8AC3E}">
        <p14:creationId xmlns:p14="http://schemas.microsoft.com/office/powerpoint/2010/main" val="441686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C8040-6F6C-A29A-F98A-1D61CB7529F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07D1C3E-FB91-165C-435C-DEDF36A2B42F}"/>
              </a:ext>
            </a:extLst>
          </p:cNvPr>
          <p:cNvGraphicFramePr>
            <a:graphicFrameLocks noGrp="1"/>
          </p:cNvGraphicFramePr>
          <p:nvPr>
            <p:extLst>
              <p:ext uri="{D42A27DB-BD31-4B8C-83A1-F6EECF244321}">
                <p14:modId xmlns:p14="http://schemas.microsoft.com/office/powerpoint/2010/main" val="302643596"/>
              </p:ext>
            </p:extLst>
          </p:nvPr>
        </p:nvGraphicFramePr>
        <p:xfrm>
          <a:off x="366525" y="106239"/>
          <a:ext cx="11656583" cy="776351"/>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000" b="1" kern="100" dirty="0">
                          <a:solidFill>
                            <a:schemeClr val="lt1"/>
                          </a:solidFill>
                          <a:latin typeface="Arial" panose="020B0604020202020204" pitchFamily="34" charset="0"/>
                          <a:ea typeface="+mn-ea"/>
                          <a:cs typeface="Arial" panose="020B0604020202020204" pitchFamily="34" charset="0"/>
                        </a:rPr>
                        <a:t>Lab Materials</a:t>
                      </a: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SG" sz="18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pic>
        <p:nvPicPr>
          <p:cNvPr id="17" name="Picture 16">
            <a:extLst>
              <a:ext uri="{FF2B5EF4-FFF2-40B4-BE49-F238E27FC236}">
                <a16:creationId xmlns:a16="http://schemas.microsoft.com/office/drawing/2014/main" id="{FCABF297-3644-B799-6418-6C4C5CF9E53D}"/>
              </a:ext>
            </a:extLst>
          </p:cNvPr>
          <p:cNvPicPr>
            <a:picLocks noChangeAspect="1"/>
          </p:cNvPicPr>
          <p:nvPr/>
        </p:nvPicPr>
        <p:blipFill>
          <a:blip r:embed="rId3"/>
          <a:stretch>
            <a:fillRect/>
          </a:stretch>
        </p:blipFill>
        <p:spPr>
          <a:xfrm>
            <a:off x="776200" y="711106"/>
            <a:ext cx="10639600" cy="5688400"/>
          </a:xfrm>
          <a:prstGeom prst="rect">
            <a:avLst/>
          </a:prstGeom>
        </p:spPr>
      </p:pic>
    </p:spTree>
    <p:extLst>
      <p:ext uri="{BB962C8B-B14F-4D97-AF65-F5344CB8AC3E}">
        <p14:creationId xmlns:p14="http://schemas.microsoft.com/office/powerpoint/2010/main" val="1573570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E7732-9151-257C-D7E2-09A874EAE147}"/>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A1CFA90-1C84-41F2-EA1C-380FCC02D088}"/>
              </a:ext>
            </a:extLst>
          </p:cNvPr>
          <p:cNvGraphicFramePr>
            <a:graphicFrameLocks noGrp="1"/>
          </p:cNvGraphicFramePr>
          <p:nvPr>
            <p:extLst>
              <p:ext uri="{D42A27DB-BD31-4B8C-83A1-F6EECF244321}">
                <p14:modId xmlns:p14="http://schemas.microsoft.com/office/powerpoint/2010/main" val="3675016658"/>
              </p:ext>
            </p:extLst>
          </p:nvPr>
        </p:nvGraphicFramePr>
        <p:xfrm>
          <a:off x="366525" y="106239"/>
          <a:ext cx="11656583" cy="776351"/>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000" b="1" kern="100" dirty="0">
                          <a:solidFill>
                            <a:schemeClr val="lt1"/>
                          </a:solidFill>
                          <a:latin typeface="Arial" panose="020B0604020202020204" pitchFamily="34" charset="0"/>
                          <a:ea typeface="+mn-ea"/>
                          <a:cs typeface="Arial" panose="020B0604020202020204" pitchFamily="34" charset="0"/>
                        </a:rPr>
                        <a:t>Lab Deliverables</a:t>
                      </a: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SG" sz="18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graphicFrame>
        <p:nvGraphicFramePr>
          <p:cNvPr id="4" name="Table 3">
            <a:extLst>
              <a:ext uri="{FF2B5EF4-FFF2-40B4-BE49-F238E27FC236}">
                <a16:creationId xmlns:a16="http://schemas.microsoft.com/office/drawing/2014/main" id="{F6E5876B-0235-2200-D54E-1EB2E43CE38D}"/>
              </a:ext>
            </a:extLst>
          </p:cNvPr>
          <p:cNvGraphicFramePr>
            <a:graphicFrameLocks noGrp="1"/>
          </p:cNvGraphicFramePr>
          <p:nvPr>
            <p:extLst>
              <p:ext uri="{D42A27DB-BD31-4B8C-83A1-F6EECF244321}">
                <p14:modId xmlns:p14="http://schemas.microsoft.com/office/powerpoint/2010/main" val="3805576969"/>
              </p:ext>
            </p:extLst>
          </p:nvPr>
        </p:nvGraphicFramePr>
        <p:xfrm>
          <a:off x="259193" y="1023525"/>
          <a:ext cx="11790831" cy="3186525"/>
        </p:xfrm>
        <a:graphic>
          <a:graphicData uri="http://schemas.openxmlformats.org/drawingml/2006/table">
            <a:tbl>
              <a:tblPr firstRow="1" firstCol="1" bandRow="1">
                <a:tableStyleId>{E8B1032C-EA38-4F05-BA0D-38AFFFC7BED3}</a:tableStyleId>
              </a:tblPr>
              <a:tblGrid>
                <a:gridCol w="780031">
                  <a:extLst>
                    <a:ext uri="{9D8B030D-6E8A-4147-A177-3AD203B41FA5}">
                      <a16:colId xmlns:a16="http://schemas.microsoft.com/office/drawing/2014/main" val="4281462614"/>
                    </a:ext>
                  </a:extLst>
                </a:gridCol>
                <a:gridCol w="1284876">
                  <a:extLst>
                    <a:ext uri="{9D8B030D-6E8A-4147-A177-3AD203B41FA5}">
                      <a16:colId xmlns:a16="http://schemas.microsoft.com/office/drawing/2014/main" val="3282944868"/>
                    </a:ext>
                  </a:extLst>
                </a:gridCol>
                <a:gridCol w="5438775">
                  <a:extLst>
                    <a:ext uri="{9D8B030D-6E8A-4147-A177-3AD203B41FA5}">
                      <a16:colId xmlns:a16="http://schemas.microsoft.com/office/drawing/2014/main" val="3353033129"/>
                    </a:ext>
                  </a:extLst>
                </a:gridCol>
                <a:gridCol w="1228725">
                  <a:extLst>
                    <a:ext uri="{9D8B030D-6E8A-4147-A177-3AD203B41FA5}">
                      <a16:colId xmlns:a16="http://schemas.microsoft.com/office/drawing/2014/main" val="377210137"/>
                    </a:ext>
                  </a:extLst>
                </a:gridCol>
                <a:gridCol w="3058424">
                  <a:extLst>
                    <a:ext uri="{9D8B030D-6E8A-4147-A177-3AD203B41FA5}">
                      <a16:colId xmlns:a16="http://schemas.microsoft.com/office/drawing/2014/main" val="3580144596"/>
                    </a:ext>
                  </a:extLst>
                </a:gridCol>
              </a:tblGrid>
              <a:tr h="718596">
                <a:tc>
                  <a:txBody>
                    <a:bodyPr/>
                    <a:lstStyle/>
                    <a:p>
                      <a:pPr algn="ctr">
                        <a:lnSpc>
                          <a:spcPct val="115000"/>
                        </a:lnSpc>
                        <a:spcAft>
                          <a:spcPts val="1000"/>
                        </a:spcAft>
                        <a:buNone/>
                      </a:pPr>
                      <a:r>
                        <a:rPr lang="en-SG" sz="2000" dirty="0">
                          <a:effectLst/>
                        </a:rPr>
                        <a:t>L</a:t>
                      </a:r>
                      <a:r>
                        <a:rPr lang="en-US" sz="2000" dirty="0">
                          <a:effectLst/>
                        </a:rPr>
                        <a:t>ab</a:t>
                      </a:r>
                      <a:endParaRPr lang="en-US" sz="180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solidFill>
                      <a:schemeClr val="bg2">
                        <a:lumMod val="90000"/>
                      </a:schemeClr>
                    </a:solidFill>
                  </a:tcPr>
                </a:tc>
                <a:tc>
                  <a:txBody>
                    <a:bodyPr/>
                    <a:lstStyle/>
                    <a:p>
                      <a:pPr algn="ctr">
                        <a:lnSpc>
                          <a:spcPct val="115000"/>
                        </a:lnSpc>
                        <a:spcAft>
                          <a:spcPts val="1000"/>
                        </a:spcAft>
                        <a:buNone/>
                      </a:pPr>
                      <a:r>
                        <a:rPr lang="en-US" sz="2000" dirty="0">
                          <a:effectLst/>
                        </a:rPr>
                        <a:t>Task </a:t>
                      </a:r>
                      <a:endParaRPr lang="en-US" sz="180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solidFill>
                      <a:schemeClr val="bg2">
                        <a:lumMod val="90000"/>
                      </a:schemeClr>
                    </a:solidFill>
                  </a:tcPr>
                </a:tc>
                <a:tc>
                  <a:txBody>
                    <a:bodyPr/>
                    <a:lstStyle/>
                    <a:p>
                      <a:pPr algn="ctr">
                        <a:lnSpc>
                          <a:spcPct val="115000"/>
                        </a:lnSpc>
                        <a:spcAft>
                          <a:spcPts val="1000"/>
                        </a:spcAft>
                        <a:buNone/>
                      </a:pPr>
                      <a:r>
                        <a:rPr lang="en-US" sz="2000" dirty="0">
                          <a:effectLst/>
                        </a:rPr>
                        <a:t>Required Output</a:t>
                      </a:r>
                      <a:endParaRPr lang="en-US" sz="180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solidFill>
                      <a:schemeClr val="bg2">
                        <a:lumMod val="90000"/>
                      </a:schemeClr>
                    </a:solidFill>
                  </a:tcPr>
                </a:tc>
                <a:tc>
                  <a:txBody>
                    <a:bodyPr/>
                    <a:lstStyle/>
                    <a:p>
                      <a:pPr algn="ctr">
                        <a:lnSpc>
                          <a:spcPct val="115000"/>
                        </a:lnSpc>
                        <a:spcAft>
                          <a:spcPts val="1000"/>
                        </a:spcAft>
                        <a:buNone/>
                      </a:pPr>
                      <a:r>
                        <a:rPr lang="en-US" sz="2000" dirty="0">
                          <a:effectLst/>
                        </a:rPr>
                        <a:t>Expected File Type</a:t>
                      </a:r>
                      <a:endParaRPr lang="en-US" sz="180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solidFill>
                      <a:schemeClr val="bg2">
                        <a:lumMod val="90000"/>
                      </a:schemeClr>
                    </a:solidFill>
                  </a:tcPr>
                </a:tc>
                <a:tc>
                  <a:txBody>
                    <a:bodyPr/>
                    <a:lstStyle/>
                    <a:p>
                      <a:pPr algn="ctr">
                        <a:lnSpc>
                          <a:spcPct val="115000"/>
                        </a:lnSpc>
                        <a:spcAft>
                          <a:spcPts val="1000"/>
                        </a:spcAft>
                        <a:buNone/>
                      </a:pPr>
                      <a:r>
                        <a:rPr lang="en-US" sz="2000" dirty="0">
                          <a:effectLst/>
                        </a:rPr>
                        <a:t>Attachment</a:t>
                      </a:r>
                      <a:endParaRPr lang="en-US" sz="180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solidFill>
                      <a:schemeClr val="bg2">
                        <a:lumMod val="90000"/>
                      </a:schemeClr>
                    </a:solidFill>
                  </a:tcPr>
                </a:tc>
                <a:extLst>
                  <a:ext uri="{0D108BD9-81ED-4DB2-BD59-A6C34878D82A}">
                    <a16:rowId xmlns:a16="http://schemas.microsoft.com/office/drawing/2014/main" val="3352527360"/>
                  </a:ext>
                </a:extLst>
              </a:tr>
              <a:tr h="620053">
                <a:tc>
                  <a:txBody>
                    <a:bodyPr/>
                    <a:lstStyle/>
                    <a:p>
                      <a:pPr algn="ctr">
                        <a:lnSpc>
                          <a:spcPct val="115000"/>
                        </a:lnSpc>
                        <a:spcAft>
                          <a:spcPts val="1000"/>
                        </a:spcAft>
                        <a:buNone/>
                      </a:pPr>
                      <a:r>
                        <a:rPr lang="en-US" sz="2200" dirty="0">
                          <a:effectLst/>
                        </a:rPr>
                        <a:t>1</a:t>
                      </a:r>
                      <a:endParaRPr lang="en-US" sz="220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algn="ctr">
                        <a:lnSpc>
                          <a:spcPct val="115000"/>
                        </a:lnSpc>
                        <a:spcAft>
                          <a:spcPts val="1000"/>
                        </a:spcAft>
                        <a:buNone/>
                      </a:pPr>
                      <a:r>
                        <a:rPr lang="en-US" sz="2200" b="0" dirty="0"/>
                        <a:t>1, 2, 3, 4</a:t>
                      </a:r>
                      <a:endParaRPr lang="en-US" sz="2200" b="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marL="342900" indent="-342900">
                        <a:lnSpc>
                          <a:spcPct val="115000"/>
                        </a:lnSpc>
                        <a:spcAft>
                          <a:spcPts val="1000"/>
                        </a:spcAft>
                        <a:buFont typeface="Arial" panose="020B0604020202020204" pitchFamily="34" charset="0"/>
                        <a:buChar char="•"/>
                      </a:pPr>
                      <a:r>
                        <a:rPr lang="en-US" sz="2200" b="0" dirty="0"/>
                        <a:t>R1 - Customer Profile Risk Report</a:t>
                      </a:r>
                      <a:endParaRPr lang="en-US" sz="2200" b="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algn="ctr">
                        <a:lnSpc>
                          <a:spcPct val="115000"/>
                        </a:lnSpc>
                        <a:spcAft>
                          <a:spcPts val="1000"/>
                        </a:spcAft>
                        <a:buNone/>
                      </a:pPr>
                      <a:r>
                        <a:rPr lang="en-US" sz="2200" b="0" dirty="0">
                          <a:effectLst/>
                        </a:rPr>
                        <a:t>.csv</a:t>
                      </a:r>
                      <a:endParaRPr lang="en-US" sz="2200" b="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a:lnSpc>
                          <a:spcPct val="115000"/>
                        </a:lnSpc>
                        <a:spcAft>
                          <a:spcPts val="1000"/>
                        </a:spcAft>
                        <a:buNone/>
                      </a:pPr>
                      <a:r>
                        <a:rPr lang="en-US" sz="2200" dirty="0">
                          <a:effectLst/>
                        </a:rPr>
                        <a:t> </a:t>
                      </a:r>
                      <a:endParaRPr lang="en-US" sz="220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extLst>
                  <a:ext uri="{0D108BD9-81ED-4DB2-BD59-A6C34878D82A}">
                    <a16:rowId xmlns:a16="http://schemas.microsoft.com/office/drawing/2014/main" val="3187777526"/>
                  </a:ext>
                </a:extLst>
              </a:tr>
              <a:tr h="923938">
                <a:tc>
                  <a:txBody>
                    <a:bodyPr/>
                    <a:lstStyle/>
                    <a:p>
                      <a:pPr algn="ctr">
                        <a:lnSpc>
                          <a:spcPct val="115000"/>
                        </a:lnSpc>
                        <a:spcAft>
                          <a:spcPts val="1000"/>
                        </a:spcAft>
                        <a:buNone/>
                      </a:pPr>
                      <a:r>
                        <a:rPr lang="en-US" sz="2200" dirty="0">
                          <a:effectLst/>
                        </a:rPr>
                        <a:t>2</a:t>
                      </a:r>
                      <a:endParaRPr lang="en-US" sz="220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algn="ctr">
                        <a:lnSpc>
                          <a:spcPct val="115000"/>
                        </a:lnSpc>
                        <a:spcAft>
                          <a:spcPts val="1000"/>
                        </a:spcAft>
                        <a:buNone/>
                      </a:pPr>
                      <a:r>
                        <a:rPr lang="en-SG" sz="2200" b="0" dirty="0">
                          <a:effectLst/>
                        </a:rPr>
                        <a:t>5, 6</a:t>
                      </a:r>
                      <a:endParaRPr lang="en-US" sz="2200" b="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marL="342900" indent="-342900">
                        <a:lnSpc>
                          <a:spcPct val="115000"/>
                        </a:lnSpc>
                        <a:spcAft>
                          <a:spcPts val="1000"/>
                        </a:spcAft>
                        <a:buFont typeface="Arial" panose="020B0604020202020204" pitchFamily="34" charset="0"/>
                        <a:buChar char="•"/>
                      </a:pPr>
                      <a:r>
                        <a:rPr lang="sv-SE" sz="2200" b="0" dirty="0"/>
                        <a:t>R2 </a:t>
                      </a:r>
                      <a:r>
                        <a:rPr lang="en-US" sz="2200" b="0" dirty="0"/>
                        <a:t>- </a:t>
                      </a:r>
                      <a:r>
                        <a:rPr lang="sv-SE" sz="2200" b="0" dirty="0"/>
                        <a:t>Transaction Pattern Risk Report</a:t>
                      </a:r>
                    </a:p>
                    <a:p>
                      <a:pPr marL="342900" marR="0" lvl="0" indent="-342900" algn="l" defTabSz="914400" rtl="0" eaLnBrk="1" fontAlgn="auto" latinLnBrk="0" hangingPunct="1">
                        <a:lnSpc>
                          <a:spcPct val="115000"/>
                        </a:lnSpc>
                        <a:spcBef>
                          <a:spcPts val="0"/>
                        </a:spcBef>
                        <a:spcAft>
                          <a:spcPts val="1000"/>
                        </a:spcAft>
                        <a:buClrTx/>
                        <a:buSzTx/>
                        <a:buFont typeface="Arial" panose="020B0604020202020204" pitchFamily="34" charset="0"/>
                        <a:buChar char="•"/>
                        <a:tabLst/>
                        <a:defRPr/>
                      </a:pPr>
                      <a:r>
                        <a:rPr lang="en-US" sz="2200" b="0" dirty="0"/>
                        <a:t>R3 - Regulatory Screening Report</a:t>
                      </a:r>
                      <a:endParaRPr lang="en-US" sz="2200" b="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algn="ctr">
                        <a:lnSpc>
                          <a:spcPct val="115000"/>
                        </a:lnSpc>
                        <a:spcAft>
                          <a:spcPts val="1000"/>
                        </a:spcAft>
                        <a:buNone/>
                      </a:pPr>
                      <a:r>
                        <a:rPr lang="en-US" sz="2200" b="0">
                          <a:effectLst/>
                        </a:rPr>
                        <a:t>.csv</a:t>
                      </a:r>
                      <a:endParaRPr lang="en-US" sz="2200" b="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a:lnSpc>
                          <a:spcPct val="115000"/>
                        </a:lnSpc>
                        <a:spcAft>
                          <a:spcPts val="1000"/>
                        </a:spcAft>
                        <a:buNone/>
                      </a:pPr>
                      <a:r>
                        <a:rPr lang="en-US" sz="2200" dirty="0">
                          <a:effectLst/>
                        </a:rPr>
                        <a:t> </a:t>
                      </a:r>
                      <a:endParaRPr lang="en-US" sz="220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extLst>
                  <a:ext uri="{0D108BD9-81ED-4DB2-BD59-A6C34878D82A}">
                    <a16:rowId xmlns:a16="http://schemas.microsoft.com/office/drawing/2014/main" val="2390014145"/>
                  </a:ext>
                </a:extLst>
              </a:tr>
              <a:tr h="923938">
                <a:tc>
                  <a:txBody>
                    <a:bodyPr/>
                    <a:lstStyle/>
                    <a:p>
                      <a:pPr algn="ctr">
                        <a:lnSpc>
                          <a:spcPct val="115000"/>
                        </a:lnSpc>
                        <a:spcAft>
                          <a:spcPts val="1000"/>
                        </a:spcAft>
                        <a:buNone/>
                      </a:pPr>
                      <a:r>
                        <a:rPr lang="en-SG" sz="2200" dirty="0">
                          <a:effectLst/>
                        </a:rPr>
                        <a:t>3</a:t>
                      </a:r>
                      <a:endParaRPr lang="en-US" sz="220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algn="ctr">
                        <a:lnSpc>
                          <a:spcPct val="115000"/>
                        </a:lnSpc>
                        <a:spcAft>
                          <a:spcPts val="1000"/>
                        </a:spcAft>
                        <a:buNone/>
                      </a:pPr>
                      <a:r>
                        <a:rPr lang="en-US" sz="2200" b="0" dirty="0"/>
                        <a:t>7</a:t>
                      </a:r>
                      <a:endParaRPr lang="en-US" sz="2200" b="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marL="342900" indent="-342900">
                        <a:lnSpc>
                          <a:spcPct val="115000"/>
                        </a:lnSpc>
                        <a:spcAft>
                          <a:spcPts val="1000"/>
                        </a:spcAft>
                        <a:buFont typeface="Arial" panose="020B0604020202020204" pitchFamily="34" charset="0"/>
                        <a:buChar char="•"/>
                      </a:pPr>
                      <a:r>
                        <a:rPr lang="en-US" sz="2200" b="0" dirty="0"/>
                        <a:t>R4 - Agentic AI Recommendation Report</a:t>
                      </a:r>
                    </a:p>
                    <a:p>
                      <a:pPr marL="342900" marR="0" lvl="0" indent="-342900" algn="l" defTabSz="914400" rtl="0" eaLnBrk="1" fontAlgn="auto" latinLnBrk="0" hangingPunct="1">
                        <a:lnSpc>
                          <a:spcPct val="115000"/>
                        </a:lnSpc>
                        <a:spcBef>
                          <a:spcPts val="0"/>
                        </a:spcBef>
                        <a:spcAft>
                          <a:spcPts val="1000"/>
                        </a:spcAft>
                        <a:buClrTx/>
                        <a:buSzTx/>
                        <a:buFont typeface="Arial" panose="020B0604020202020204" pitchFamily="34" charset="0"/>
                        <a:buChar char="•"/>
                        <a:tabLst/>
                        <a:defRPr/>
                      </a:pPr>
                      <a:r>
                        <a:rPr lang="en-US" sz="2200" b="0" dirty="0"/>
                        <a:t>R4 - Management Risk Dashboard</a:t>
                      </a:r>
                      <a:endParaRPr lang="en-US" sz="2200" b="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algn="ctr">
                        <a:lnSpc>
                          <a:spcPct val="115000"/>
                        </a:lnSpc>
                        <a:spcAft>
                          <a:spcPts val="1000"/>
                        </a:spcAft>
                        <a:buNone/>
                      </a:pPr>
                      <a:r>
                        <a:rPr lang="en-US" sz="2200" b="0" dirty="0">
                          <a:effectLst/>
                        </a:rPr>
                        <a:t>.csv</a:t>
                      </a:r>
                    </a:p>
                    <a:p>
                      <a:pPr algn="ctr">
                        <a:lnSpc>
                          <a:spcPct val="115000"/>
                        </a:lnSpc>
                        <a:spcAft>
                          <a:spcPts val="1000"/>
                        </a:spcAft>
                        <a:buNone/>
                      </a:pPr>
                      <a:r>
                        <a:rPr lang="en-US" sz="2200" b="0" dirty="0">
                          <a:effectLst/>
                          <a:latin typeface="Aptos" panose="020B0004020202020204" pitchFamily="34" charset="0"/>
                          <a:ea typeface="MS Mincho" panose="02020609040205080304" pitchFamily="49" charset="-128"/>
                          <a:cs typeface="Latha" panose="020B0604020202020204" pitchFamily="2"/>
                        </a:rPr>
                        <a:t>.</a:t>
                      </a:r>
                      <a:r>
                        <a:rPr lang="en-US" sz="2200" b="0" dirty="0" err="1">
                          <a:effectLst/>
                          <a:latin typeface="Aptos" panose="020B0004020202020204" pitchFamily="34" charset="0"/>
                          <a:ea typeface="MS Mincho" panose="02020609040205080304" pitchFamily="49" charset="-128"/>
                          <a:cs typeface="Latha" panose="020B0604020202020204" pitchFamily="2"/>
                        </a:rPr>
                        <a:t>svg</a:t>
                      </a:r>
                      <a:endParaRPr lang="en-US" sz="2200" b="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tc>
                  <a:txBody>
                    <a:bodyPr/>
                    <a:lstStyle/>
                    <a:p>
                      <a:pPr>
                        <a:lnSpc>
                          <a:spcPct val="115000"/>
                        </a:lnSpc>
                        <a:spcAft>
                          <a:spcPts val="1000"/>
                        </a:spcAft>
                        <a:buNone/>
                      </a:pPr>
                      <a:r>
                        <a:rPr lang="en-US" sz="2200" dirty="0">
                          <a:effectLst/>
                        </a:rPr>
                        <a:t> </a:t>
                      </a:r>
                      <a:endParaRPr lang="en-US" sz="2200" dirty="0">
                        <a:effectLst/>
                        <a:latin typeface="Aptos" panose="020B0004020202020204" pitchFamily="34" charset="0"/>
                        <a:ea typeface="MS Mincho" panose="02020609040205080304" pitchFamily="49" charset="-128"/>
                        <a:cs typeface="Latha" panose="020B0604020202020204" pitchFamily="2"/>
                      </a:endParaRPr>
                    </a:p>
                  </a:txBody>
                  <a:tcPr marL="68580" marR="68580" marT="0" marB="0" anchor="ctr"/>
                </a:tc>
                <a:extLst>
                  <a:ext uri="{0D108BD9-81ED-4DB2-BD59-A6C34878D82A}">
                    <a16:rowId xmlns:a16="http://schemas.microsoft.com/office/drawing/2014/main" val="3319483538"/>
                  </a:ext>
                </a:extLst>
              </a:tr>
            </a:tbl>
          </a:graphicData>
        </a:graphic>
      </p:graphicFrame>
      <p:pic>
        <p:nvPicPr>
          <p:cNvPr id="7" name="Picture 6">
            <a:extLst>
              <a:ext uri="{FF2B5EF4-FFF2-40B4-BE49-F238E27FC236}">
                <a16:creationId xmlns:a16="http://schemas.microsoft.com/office/drawing/2014/main" id="{026A1D81-899A-1549-31FE-13975E9CB03A}"/>
              </a:ext>
            </a:extLst>
          </p:cNvPr>
          <p:cNvPicPr>
            <a:picLocks noChangeAspect="1"/>
          </p:cNvPicPr>
          <p:nvPr/>
        </p:nvPicPr>
        <p:blipFill>
          <a:blip r:embed="rId3"/>
          <a:stretch>
            <a:fillRect/>
          </a:stretch>
        </p:blipFill>
        <p:spPr>
          <a:xfrm>
            <a:off x="9131141" y="1830364"/>
            <a:ext cx="2601641" cy="323856"/>
          </a:xfrm>
          <a:prstGeom prst="rect">
            <a:avLst/>
          </a:prstGeom>
        </p:spPr>
      </p:pic>
      <p:pic>
        <p:nvPicPr>
          <p:cNvPr id="9" name="Picture 8">
            <a:extLst>
              <a:ext uri="{FF2B5EF4-FFF2-40B4-BE49-F238E27FC236}">
                <a16:creationId xmlns:a16="http://schemas.microsoft.com/office/drawing/2014/main" id="{86D91E42-A91C-0F80-CEBC-AB5A3D3D28F8}"/>
              </a:ext>
            </a:extLst>
          </p:cNvPr>
          <p:cNvPicPr>
            <a:picLocks noChangeAspect="1"/>
          </p:cNvPicPr>
          <p:nvPr/>
        </p:nvPicPr>
        <p:blipFill>
          <a:blip r:embed="rId4"/>
          <a:stretch>
            <a:fillRect/>
          </a:stretch>
        </p:blipFill>
        <p:spPr>
          <a:xfrm>
            <a:off x="9131140" y="2441440"/>
            <a:ext cx="2601641" cy="301349"/>
          </a:xfrm>
          <a:prstGeom prst="rect">
            <a:avLst/>
          </a:prstGeom>
        </p:spPr>
      </p:pic>
      <p:pic>
        <p:nvPicPr>
          <p:cNvPr id="13" name="Picture 12">
            <a:extLst>
              <a:ext uri="{FF2B5EF4-FFF2-40B4-BE49-F238E27FC236}">
                <a16:creationId xmlns:a16="http://schemas.microsoft.com/office/drawing/2014/main" id="{7D4CC7C1-B789-CD4B-80A1-1EBE3DD3110F}"/>
              </a:ext>
            </a:extLst>
          </p:cNvPr>
          <p:cNvPicPr>
            <a:picLocks noChangeAspect="1"/>
          </p:cNvPicPr>
          <p:nvPr/>
        </p:nvPicPr>
        <p:blipFill>
          <a:blip r:embed="rId5"/>
          <a:stretch>
            <a:fillRect/>
          </a:stretch>
        </p:blipFill>
        <p:spPr>
          <a:xfrm>
            <a:off x="9226390" y="2854174"/>
            <a:ext cx="2244770" cy="270920"/>
          </a:xfrm>
          <a:prstGeom prst="rect">
            <a:avLst/>
          </a:prstGeom>
        </p:spPr>
      </p:pic>
      <p:pic>
        <p:nvPicPr>
          <p:cNvPr id="15" name="Picture 14">
            <a:extLst>
              <a:ext uri="{FF2B5EF4-FFF2-40B4-BE49-F238E27FC236}">
                <a16:creationId xmlns:a16="http://schemas.microsoft.com/office/drawing/2014/main" id="{CB7269FF-EED7-7A52-EA40-230ED266CE14}"/>
              </a:ext>
            </a:extLst>
          </p:cNvPr>
          <p:cNvPicPr>
            <a:picLocks noChangeAspect="1"/>
          </p:cNvPicPr>
          <p:nvPr/>
        </p:nvPicPr>
        <p:blipFill>
          <a:blip r:embed="rId6"/>
          <a:stretch>
            <a:fillRect/>
          </a:stretch>
        </p:blipFill>
        <p:spPr>
          <a:xfrm>
            <a:off x="9131139" y="3805243"/>
            <a:ext cx="2601641" cy="316805"/>
          </a:xfrm>
          <a:prstGeom prst="rect">
            <a:avLst/>
          </a:prstGeom>
        </p:spPr>
      </p:pic>
      <p:pic>
        <p:nvPicPr>
          <p:cNvPr id="19" name="Picture 18">
            <a:extLst>
              <a:ext uri="{FF2B5EF4-FFF2-40B4-BE49-F238E27FC236}">
                <a16:creationId xmlns:a16="http://schemas.microsoft.com/office/drawing/2014/main" id="{1E433E2F-FF63-8C74-7A96-DDFB2FD4F9E4}"/>
              </a:ext>
            </a:extLst>
          </p:cNvPr>
          <p:cNvPicPr>
            <a:picLocks noChangeAspect="1"/>
          </p:cNvPicPr>
          <p:nvPr/>
        </p:nvPicPr>
        <p:blipFill>
          <a:blip r:embed="rId7"/>
          <a:stretch>
            <a:fillRect/>
          </a:stretch>
        </p:blipFill>
        <p:spPr>
          <a:xfrm>
            <a:off x="9131139" y="3435749"/>
            <a:ext cx="2601641" cy="288102"/>
          </a:xfrm>
          <a:prstGeom prst="rect">
            <a:avLst/>
          </a:prstGeom>
        </p:spPr>
      </p:pic>
    </p:spTree>
    <p:extLst>
      <p:ext uri="{BB962C8B-B14F-4D97-AF65-F5344CB8AC3E}">
        <p14:creationId xmlns:p14="http://schemas.microsoft.com/office/powerpoint/2010/main" val="3467198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C5F16-BA24-491C-320B-F45462DBDB0F}"/>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18150BA-764B-8AB9-41AA-01F69C196495}"/>
              </a:ext>
            </a:extLst>
          </p:cNvPr>
          <p:cNvGraphicFramePr>
            <a:graphicFrameLocks noGrp="1"/>
          </p:cNvGraphicFramePr>
          <p:nvPr/>
        </p:nvGraphicFramePr>
        <p:xfrm>
          <a:off x="366525" y="30039"/>
          <a:ext cx="11656583" cy="945134"/>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400" dirty="0"/>
                        <a:t>Gen AI Concepts for the DXS Banking Workflow</a:t>
                      </a:r>
                      <a:endParaRPr lang="en-US" sz="2800" b="1" kern="100" dirty="0">
                        <a:solidFill>
                          <a:schemeClr val="lt1"/>
                        </a:solidFill>
                        <a:latin typeface="Arial" panose="020B0604020202020204" pitchFamily="34" charset="0"/>
                        <a:ea typeface="+mn-ea"/>
                        <a:cs typeface="Arial" panose="020B0604020202020204" pitchFamily="34" charset="0"/>
                      </a:endParaRP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r>
                        <a:rPr lang="en-US" sz="2400" dirty="0"/>
                        <a:t>AI &amp; GenAI Concepts Recap</a:t>
                      </a:r>
                      <a:endParaRPr lang="en-SG" sz="24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pic>
        <p:nvPicPr>
          <p:cNvPr id="5" name="Picture 4">
            <a:extLst>
              <a:ext uri="{FF2B5EF4-FFF2-40B4-BE49-F238E27FC236}">
                <a16:creationId xmlns:a16="http://schemas.microsoft.com/office/drawing/2014/main" id="{1D35924E-0C31-A739-4CC3-F95DFC02E6C0}"/>
              </a:ext>
            </a:extLst>
          </p:cNvPr>
          <p:cNvPicPr>
            <a:picLocks noChangeAspect="1"/>
          </p:cNvPicPr>
          <p:nvPr/>
        </p:nvPicPr>
        <p:blipFill>
          <a:blip r:embed="rId3"/>
          <a:stretch>
            <a:fillRect/>
          </a:stretch>
        </p:blipFill>
        <p:spPr>
          <a:xfrm>
            <a:off x="168892" y="502606"/>
            <a:ext cx="11916457" cy="5974394"/>
          </a:xfrm>
          <a:prstGeom prst="rect">
            <a:avLst/>
          </a:prstGeom>
        </p:spPr>
      </p:pic>
    </p:spTree>
    <p:extLst>
      <p:ext uri="{BB962C8B-B14F-4D97-AF65-F5344CB8AC3E}">
        <p14:creationId xmlns:p14="http://schemas.microsoft.com/office/powerpoint/2010/main" val="1172061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429BD-7D0D-9DB6-5FF5-6A3603462AE5}"/>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F64F589-2052-A675-0BB6-D378982A21DD}"/>
              </a:ext>
            </a:extLst>
          </p:cNvPr>
          <p:cNvGraphicFramePr>
            <a:graphicFrameLocks noGrp="1"/>
          </p:cNvGraphicFramePr>
          <p:nvPr>
            <p:extLst>
              <p:ext uri="{D42A27DB-BD31-4B8C-83A1-F6EECF244321}">
                <p14:modId xmlns:p14="http://schemas.microsoft.com/office/powerpoint/2010/main" val="940202605"/>
              </p:ext>
            </p:extLst>
          </p:nvPr>
        </p:nvGraphicFramePr>
        <p:xfrm>
          <a:off x="267708" y="2806668"/>
          <a:ext cx="11656583" cy="1244664"/>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3600" b="1" kern="100" dirty="0">
                          <a:solidFill>
                            <a:schemeClr val="lt1"/>
                          </a:solidFill>
                          <a:latin typeface="Arial" panose="020B0604020202020204" pitchFamily="34" charset="0"/>
                          <a:ea typeface="+mn-ea"/>
                          <a:cs typeface="Arial" panose="020B0604020202020204" pitchFamily="34" charset="0"/>
                        </a:rPr>
                        <a:t>Lab User Guide &amp; Answer Guide Walkthrough</a:t>
                      </a: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SG" sz="32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spTree>
    <p:extLst>
      <p:ext uri="{BB962C8B-B14F-4D97-AF65-F5344CB8AC3E}">
        <p14:creationId xmlns:p14="http://schemas.microsoft.com/office/powerpoint/2010/main" val="1165086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14D6-CAFB-3E37-E586-9F1ACB5B182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347E00A-6A9E-4065-6BBF-8487D1647543}"/>
              </a:ext>
            </a:extLst>
          </p:cNvPr>
          <p:cNvGraphicFramePr>
            <a:graphicFrameLocks noGrp="1"/>
          </p:cNvGraphicFramePr>
          <p:nvPr>
            <p:extLst>
              <p:ext uri="{D42A27DB-BD31-4B8C-83A1-F6EECF244321}">
                <p14:modId xmlns:p14="http://schemas.microsoft.com/office/powerpoint/2010/main" val="1858699360"/>
              </p:ext>
            </p:extLst>
          </p:nvPr>
        </p:nvGraphicFramePr>
        <p:xfrm>
          <a:off x="366525" y="30039"/>
          <a:ext cx="11656583" cy="933450"/>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400" dirty="0"/>
                        <a:t>n8n Setup</a:t>
                      </a:r>
                      <a:endParaRPr lang="en-US" sz="2800" b="1" kern="100" dirty="0">
                        <a:solidFill>
                          <a:schemeClr val="lt1"/>
                        </a:solidFill>
                        <a:latin typeface="Arial" panose="020B0604020202020204" pitchFamily="34" charset="0"/>
                        <a:ea typeface="+mn-ea"/>
                        <a:cs typeface="Arial" panose="020B0604020202020204" pitchFamily="34" charset="0"/>
                      </a:endParaRP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SG" sz="24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sp>
        <p:nvSpPr>
          <p:cNvPr id="3" name="TextBox 2">
            <a:extLst>
              <a:ext uri="{FF2B5EF4-FFF2-40B4-BE49-F238E27FC236}">
                <a16:creationId xmlns:a16="http://schemas.microsoft.com/office/drawing/2014/main" id="{D07BAA16-30B3-CCC0-B744-FBF7671C4646}"/>
              </a:ext>
            </a:extLst>
          </p:cNvPr>
          <p:cNvSpPr txBox="1"/>
          <p:nvPr/>
        </p:nvSpPr>
        <p:spPr>
          <a:xfrm>
            <a:off x="366525" y="879128"/>
            <a:ext cx="11656583" cy="5637441"/>
          </a:xfrm>
          <a:prstGeom prst="rect">
            <a:avLst/>
          </a:prstGeom>
          <a:noFill/>
        </p:spPr>
        <p:txBody>
          <a:bodyPr wrap="square">
            <a:spAutoFit/>
          </a:bodyPr>
          <a:lstStyle/>
          <a:p>
            <a:r>
              <a:rPr lang="en-US" sz="2000" b="1" dirty="0"/>
              <a:t>What is n8n and Why are we using it in this lab?</a:t>
            </a:r>
            <a:endParaRPr lang="en-US" sz="2000" dirty="0"/>
          </a:p>
          <a:p>
            <a:pPr>
              <a:buNone/>
            </a:pPr>
            <a:endParaRPr lang="en-US" sz="2000" b="1" dirty="0">
              <a:effectLst/>
              <a:latin typeface="Arial" panose="020B0604020202020204" pitchFamily="34" charset="0"/>
              <a:ea typeface="Times New Roman" panose="02020603050405020304" pitchFamily="18" charset="0"/>
            </a:endParaRPr>
          </a:p>
          <a:p>
            <a:pPr marL="285750" indent="-285750">
              <a:buFont typeface="Arial" panose="020B0604020202020204" pitchFamily="34" charset="0"/>
              <a:buChar char="•"/>
            </a:pPr>
            <a:r>
              <a:rPr lang="en-US" sz="2000" b="1" dirty="0">
                <a:effectLst/>
                <a:latin typeface="Arial" panose="020B0604020202020204" pitchFamily="34" charset="0"/>
                <a:ea typeface="Times New Roman" panose="02020603050405020304" pitchFamily="18" charset="0"/>
              </a:rPr>
              <a:t>n8n</a:t>
            </a:r>
            <a:r>
              <a:rPr lang="en-US" sz="2000" dirty="0">
                <a:effectLst/>
                <a:latin typeface="Arial" panose="020B0604020202020204" pitchFamily="34" charset="0"/>
                <a:ea typeface="Times New Roman" panose="02020603050405020304" pitchFamily="18" charset="0"/>
              </a:rPr>
              <a:t> is a visual workflow automation platform that allows you to connect data, applications, business rules, and AI models into one automated process.</a:t>
            </a:r>
          </a:p>
          <a:p>
            <a:endParaRPr lang="en-US" sz="2000" dirty="0">
              <a:effectLst/>
              <a:latin typeface="Arial" panose="020B0604020202020204" pitchFamily="34" charset="0"/>
              <a:ea typeface="Times New Roman" panose="02020603050405020304" pitchFamily="18" charset="0"/>
            </a:endParaRPr>
          </a:p>
          <a:p>
            <a:pPr marL="285750" indent="-285750">
              <a:buFont typeface="Arial" panose="020B0604020202020204" pitchFamily="34" charset="0"/>
              <a:buChar char="•"/>
            </a:pPr>
            <a:r>
              <a:rPr lang="en-US" sz="2000" dirty="0">
                <a:effectLst/>
                <a:latin typeface="Arial" panose="020B0604020202020204" pitchFamily="34" charset="0"/>
                <a:ea typeface="Times New Roman" panose="02020603050405020304" pitchFamily="18" charset="0"/>
              </a:rPr>
              <a:t>Instead of building a complete software application from scratch, you can create workflows by connecting nodes that perform tasks such as receiving files, preparing data, calling AI models, and generating outputs.</a:t>
            </a:r>
          </a:p>
          <a:p>
            <a:pPr marL="285750" indent="-285750">
              <a:buFont typeface="Arial" panose="020B0604020202020204" pitchFamily="34" charset="0"/>
              <a:buChar char="•"/>
            </a:pPr>
            <a:endParaRPr lang="en-US" sz="2000" dirty="0">
              <a:latin typeface="Arial" panose="020B0604020202020204" pitchFamily="34" charset="0"/>
              <a:ea typeface="Times New Roman" panose="02020603050405020304" pitchFamily="18" charset="0"/>
            </a:endParaRPr>
          </a:p>
          <a:p>
            <a:pPr marL="285750" indent="-285750">
              <a:buFont typeface="Arial" panose="020B0604020202020204" pitchFamily="34" charset="0"/>
              <a:buChar char="•"/>
            </a:pPr>
            <a:r>
              <a:rPr lang="en-US" sz="2000" dirty="0">
                <a:latin typeface="Arial" panose="020B0604020202020204" pitchFamily="34" charset="0"/>
              </a:rPr>
              <a:t>You need an </a:t>
            </a:r>
            <a:r>
              <a:rPr lang="en-US" sz="2000" b="1" dirty="0">
                <a:latin typeface="Arial" panose="020B0604020202020204" pitchFamily="34" charset="0"/>
              </a:rPr>
              <a:t>n8n account </a:t>
            </a:r>
            <a:r>
              <a:rPr lang="en-US" sz="2000" dirty="0">
                <a:latin typeface="Arial" panose="020B0604020202020204" pitchFamily="34" charset="0"/>
              </a:rPr>
              <a:t>because the lab workflow will be built, configured, tested, and executed inside the n8n workspace.</a:t>
            </a:r>
          </a:p>
          <a:p>
            <a:pPr marL="285750" indent="-285750">
              <a:buFont typeface="Arial" panose="020B0604020202020204" pitchFamily="34" charset="0"/>
              <a:buChar char="•"/>
            </a:pPr>
            <a:endParaRPr lang="en-US" sz="2000" dirty="0"/>
          </a:p>
          <a:p>
            <a:pPr marL="800100" indent="-342900">
              <a:spcBef>
                <a:spcPts val="700"/>
              </a:spcBef>
              <a:spcAft>
                <a:spcPts val="1000"/>
              </a:spcAft>
              <a:buFont typeface="Arial" panose="020B0604020202020204" pitchFamily="34" charset="0"/>
              <a:buChar char="•"/>
            </a:pPr>
            <a:r>
              <a:rPr lang="en-US" b="1" dirty="0">
                <a:solidFill>
                  <a:srgbClr val="1F315E"/>
                </a:solidFill>
                <a:latin typeface="Arial" panose="020B0604020202020204" pitchFamily="34" charset="0"/>
                <a:ea typeface="MS Mincho" panose="02020609040205080304" pitchFamily="49" charset="-128"/>
                <a:cs typeface="Arial" panose="020B0604020202020204" pitchFamily="34" charset="0"/>
              </a:rPr>
              <a:t>Step 1: </a:t>
            </a:r>
            <a:r>
              <a:rPr lang="en-US" b="1" dirty="0">
                <a:latin typeface="Arial" panose="020B0604020202020204" pitchFamily="34" charset="0"/>
                <a:ea typeface="MS Mincho" panose="02020609040205080304" pitchFamily="49" charset="-128"/>
                <a:cs typeface="Arial" panose="020B0604020202020204" pitchFamily="34" charset="0"/>
              </a:rPr>
              <a:t>Go to </a:t>
            </a:r>
            <a:r>
              <a:rPr lang="en-US" b="1" u="sng" dirty="0">
                <a:solidFill>
                  <a:srgbClr val="0000FF"/>
                </a:solidFill>
                <a:latin typeface="Arial" panose="020B0604020202020204" pitchFamily="34" charset="0"/>
                <a:ea typeface="MS Mincho" panose="02020609040205080304" pitchFamily="49" charset="-128"/>
                <a:cs typeface="Arial" panose="020B0604020202020204" pitchFamily="34" charset="0"/>
                <a:hlinkClick r:id="rId3"/>
              </a:rPr>
              <a:t>https://app.n8n.cloud/login</a:t>
            </a:r>
            <a:r>
              <a:rPr lang="en-US" b="1" dirty="0">
                <a:latin typeface="Arial" panose="020B0604020202020204" pitchFamily="34" charset="0"/>
                <a:ea typeface="MS Mincho" panose="02020609040205080304" pitchFamily="49" charset="-128"/>
                <a:cs typeface="Arial" panose="020B0604020202020204" pitchFamily="34" charset="0"/>
              </a:rPr>
              <a:t> </a:t>
            </a:r>
          </a:p>
          <a:p>
            <a:pPr marL="800100" indent="-342900">
              <a:spcBef>
                <a:spcPts val="700"/>
              </a:spcBef>
              <a:spcAft>
                <a:spcPts val="1000"/>
              </a:spcAft>
              <a:buFont typeface="Arial" panose="020B0604020202020204" pitchFamily="34" charset="0"/>
              <a:buChar char="•"/>
            </a:pPr>
            <a:r>
              <a:rPr lang="en-US" b="1" dirty="0"/>
              <a:t>Step 2: Create your n8n Cloud account using Your Email account (Gmail/Yahoo/…)</a:t>
            </a:r>
            <a:endParaRPr lang="en-US" dirty="0"/>
          </a:p>
          <a:p>
            <a:pPr marL="800100" indent="-342900">
              <a:spcBef>
                <a:spcPts val="700"/>
              </a:spcBef>
              <a:spcAft>
                <a:spcPts val="1000"/>
              </a:spcAft>
              <a:buFont typeface="Arial" panose="020B0604020202020204" pitchFamily="34" charset="0"/>
              <a:buChar char="•"/>
            </a:pPr>
            <a:r>
              <a:rPr lang="en-US" b="1" dirty="0"/>
              <a:t>Step 3: Verify Your Email</a:t>
            </a:r>
            <a:endParaRPr lang="en-US" dirty="0"/>
          </a:p>
          <a:p>
            <a:pPr marL="800100" indent="-342900">
              <a:spcBef>
                <a:spcPts val="700"/>
              </a:spcBef>
              <a:spcAft>
                <a:spcPts val="1000"/>
              </a:spcAft>
              <a:buFont typeface="Arial" panose="020B0604020202020204" pitchFamily="34" charset="0"/>
              <a:buChar char="•"/>
            </a:pPr>
            <a:r>
              <a:rPr lang="en-US" b="1" dirty="0"/>
              <a:t>Step 4: Complete Your Account Details</a:t>
            </a:r>
            <a:endParaRPr lang="en-US" dirty="0"/>
          </a:p>
        </p:txBody>
      </p:sp>
    </p:spTree>
    <p:extLst>
      <p:ext uri="{BB962C8B-B14F-4D97-AF65-F5344CB8AC3E}">
        <p14:creationId xmlns:p14="http://schemas.microsoft.com/office/powerpoint/2010/main" val="2320748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7A68C-9867-A37F-7751-63BB64710C2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CF50ED7-3684-A103-F6EE-E05B23418CB0}"/>
              </a:ext>
            </a:extLst>
          </p:cNvPr>
          <p:cNvGraphicFramePr>
            <a:graphicFrameLocks noGrp="1"/>
          </p:cNvGraphicFramePr>
          <p:nvPr/>
        </p:nvGraphicFramePr>
        <p:xfrm>
          <a:off x="366525" y="30039"/>
          <a:ext cx="11656583" cy="933450"/>
        </p:xfrm>
        <a:graphic>
          <a:graphicData uri="http://schemas.openxmlformats.org/drawingml/2006/table">
            <a:tbl>
              <a:tblPr firstRow="1" bandRow="1">
                <a:tableStyleId>{5C22544A-7EE6-4342-B048-85BDC9FD1C3A}</a:tableStyleId>
              </a:tblPr>
              <a:tblGrid>
                <a:gridCol w="11656583">
                  <a:extLst>
                    <a:ext uri="{9D8B030D-6E8A-4147-A177-3AD203B41FA5}">
                      <a16:colId xmlns:a16="http://schemas.microsoft.com/office/drawing/2014/main" val="1614827574"/>
                    </a:ext>
                  </a:extLst>
                </a:gridCol>
              </a:tblGrid>
              <a:tr h="370840">
                <a:tc>
                  <a:txBody>
                    <a:bodyPr/>
                    <a:lstStyle/>
                    <a:p>
                      <a:pPr algn="ctr"/>
                      <a:r>
                        <a:rPr lang="en-US" sz="2400" dirty="0"/>
                        <a:t>n8n Setup</a:t>
                      </a:r>
                      <a:endParaRPr lang="en-US" sz="2800" b="1" kern="100" dirty="0">
                        <a:solidFill>
                          <a:schemeClr val="lt1"/>
                        </a:solidFill>
                        <a:latin typeface="Arial" panose="020B0604020202020204" pitchFamily="34" charset="0"/>
                        <a:ea typeface="+mn-ea"/>
                        <a:cs typeface="Arial" panose="020B0604020202020204" pitchFamily="34" charset="0"/>
                      </a:endParaRPr>
                    </a:p>
                  </a:txBody>
                  <a:tcPr>
                    <a:solidFill>
                      <a:srgbClr val="002060"/>
                    </a:solidFill>
                  </a:tcPr>
                </a:tc>
                <a:extLst>
                  <a:ext uri="{0D108BD9-81ED-4DB2-BD59-A6C34878D82A}">
                    <a16:rowId xmlns:a16="http://schemas.microsoft.com/office/drawing/2014/main" val="4072692"/>
                  </a:ext>
                </a:extLst>
              </a:tr>
              <a:tr h="370840">
                <a:tc>
                  <a:txBody>
                    <a:bodyPr/>
                    <a:lstStyle/>
                    <a:p>
                      <a:pPr marL="0" marR="0" lvl="0" indent="0" algn="just" defTabSz="914400" rtl="0" eaLnBrk="1" fontAlgn="auto" latinLnBrk="0" hangingPunct="1">
                        <a:lnSpc>
                          <a:spcPct val="115000"/>
                        </a:lnSpc>
                        <a:spcBef>
                          <a:spcPts val="0"/>
                        </a:spcBef>
                        <a:spcAft>
                          <a:spcPts val="800"/>
                        </a:spcAft>
                        <a:buClrTx/>
                        <a:buSzTx/>
                        <a:buFont typeface="Symbol" panose="05050102010706020507" pitchFamily="18" charset="2"/>
                        <a:buNone/>
                        <a:tabLst/>
                        <a:defRPr/>
                      </a:pPr>
                      <a:endParaRPr lang="en-SG" sz="2400" kern="100" dirty="0">
                        <a:latin typeface="Arial" panose="020B0604020202020204" pitchFamily="34" charset="0"/>
                        <a:ea typeface="Aptos" panose="020B00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5763325"/>
                  </a:ext>
                </a:extLst>
              </a:tr>
            </a:tbl>
          </a:graphicData>
        </a:graphic>
      </p:graphicFrame>
      <p:sp>
        <p:nvSpPr>
          <p:cNvPr id="6" name="TextBox 5">
            <a:extLst>
              <a:ext uri="{FF2B5EF4-FFF2-40B4-BE49-F238E27FC236}">
                <a16:creationId xmlns:a16="http://schemas.microsoft.com/office/drawing/2014/main" id="{5A5202F0-DA60-BA2C-E08E-B738478B3523}"/>
              </a:ext>
            </a:extLst>
          </p:cNvPr>
          <p:cNvSpPr txBox="1"/>
          <p:nvPr/>
        </p:nvSpPr>
        <p:spPr>
          <a:xfrm>
            <a:off x="651933" y="1443841"/>
            <a:ext cx="11099800" cy="3539430"/>
          </a:xfrm>
          <a:prstGeom prst="rect">
            <a:avLst/>
          </a:prstGeom>
          <a:noFill/>
        </p:spPr>
        <p:txBody>
          <a:bodyPr wrap="square">
            <a:spAutoFit/>
          </a:bodyPr>
          <a:lstStyle/>
          <a:p>
            <a:pPr>
              <a:buNone/>
            </a:pPr>
            <a:r>
              <a:rPr lang="en-US" sz="2800" b="1" dirty="0"/>
              <a:t>Note:</a:t>
            </a:r>
            <a:r>
              <a:rPr lang="en-US" sz="2800" dirty="0"/>
              <a:t> </a:t>
            </a:r>
          </a:p>
          <a:p>
            <a:pPr>
              <a:buNone/>
            </a:pPr>
            <a:endParaRPr lang="en-US" sz="2800" dirty="0"/>
          </a:p>
          <a:p>
            <a:pPr marL="342900" indent="-342900">
              <a:buAutoNum type="arabicParenR"/>
            </a:pPr>
            <a:r>
              <a:rPr lang="en-US" sz="2800" dirty="0"/>
              <a:t>The n8n free trial expires after </a:t>
            </a:r>
            <a:r>
              <a:rPr lang="en-US" sz="2800" b="1" dirty="0"/>
              <a:t>2 weeks</a:t>
            </a:r>
            <a:r>
              <a:rPr lang="en-US" sz="2800" dirty="0"/>
              <a:t>, so please complete the lab before the trial period ends.</a:t>
            </a:r>
          </a:p>
          <a:p>
            <a:pPr marL="342900" indent="-342900">
              <a:buAutoNum type="arabicParenR"/>
            </a:pPr>
            <a:endParaRPr lang="en-US" sz="2800" dirty="0"/>
          </a:p>
          <a:p>
            <a:pPr marL="342900" indent="-342900">
              <a:buAutoNum type="arabicParenR"/>
            </a:pPr>
            <a:r>
              <a:rPr lang="en-US" sz="2800" dirty="0"/>
              <a:t>New n8n Cloud trial accounts come with free </a:t>
            </a:r>
            <a:r>
              <a:rPr lang="en-US" sz="2800" b="1" dirty="0"/>
              <a:t>AI Gateway credits</a:t>
            </a:r>
            <a:r>
              <a:rPr lang="en-US" sz="2800" dirty="0"/>
              <a:t> that can be used with supported AI models, including OpenAI. These credits are sufficient to complete the lab exercises.</a:t>
            </a:r>
          </a:p>
        </p:txBody>
      </p:sp>
    </p:spTree>
    <p:extLst>
      <p:ext uri="{BB962C8B-B14F-4D97-AF65-F5344CB8AC3E}">
        <p14:creationId xmlns:p14="http://schemas.microsoft.com/office/powerpoint/2010/main" val="1696566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EDE29-F940-9C6B-3449-950D7B7521B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42B07B08-5D62-C7C0-0296-FD723BCBB4CC}"/>
              </a:ext>
            </a:extLst>
          </p:cNvPr>
          <p:cNvPicPr>
            <a:picLocks noChangeAspect="1"/>
          </p:cNvPicPr>
          <p:nvPr/>
        </p:nvPicPr>
        <p:blipFill>
          <a:blip r:embed="rId3"/>
          <a:stretch>
            <a:fillRect/>
          </a:stretch>
        </p:blipFill>
        <p:spPr>
          <a:xfrm>
            <a:off x="394283" y="220079"/>
            <a:ext cx="11403433" cy="6417841"/>
          </a:xfrm>
          <a:prstGeom prst="rect">
            <a:avLst/>
          </a:prstGeom>
        </p:spPr>
      </p:pic>
    </p:spTree>
    <p:extLst>
      <p:ext uri="{BB962C8B-B14F-4D97-AF65-F5344CB8AC3E}">
        <p14:creationId xmlns:p14="http://schemas.microsoft.com/office/powerpoint/2010/main" val="4237626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951d41b-6b8e-4636-984f-012bff14ba18}" enabled="1" method="Standar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otalTime>6015</TotalTime>
  <Words>1287</Words>
  <Application>Microsoft Office PowerPoint</Application>
  <PresentationFormat>Widescreen</PresentationFormat>
  <Paragraphs>176</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Arul OBUCHETTIAR KRISHNARAJ</dc:creator>
  <cp:lastModifiedBy>Arul OBUCHETTIAR KRISHNARAJ</cp:lastModifiedBy>
  <cp:revision>287</cp:revision>
  <dcterms:created xsi:type="dcterms:W3CDTF">2026-09-15T13:31:03Z</dcterms:created>
  <dcterms:modified xsi:type="dcterms:W3CDTF">2026-10-12T09:43:30Z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SMU Classification: Restricted</vt:lpwstr>
  </property>
</Properties>
</file>